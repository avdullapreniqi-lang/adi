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C22FF-2D9C-42C3-A61F-71F05F9EC562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3C7598-1A37-4BE3-AC6A-72F9FC478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18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dizajni</a:t>
            </a:r>
            <a:r>
              <a:rPr lang="en-US" dirty="0"/>
              <a:t> </a:t>
            </a:r>
            <a:r>
              <a:rPr lang="en-US" dirty="0" err="1"/>
              <a:t>inxhinierik</a:t>
            </a:r>
            <a:r>
              <a:rPr lang="en-US" dirty="0"/>
              <a:t> </a:t>
            </a:r>
            <a:r>
              <a:rPr lang="en-US" dirty="0" err="1"/>
              <a:t>përfaqëson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strukturuar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synon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transformojë</a:t>
            </a:r>
            <a:r>
              <a:rPr lang="en-US" dirty="0"/>
              <a:t> </a:t>
            </a:r>
            <a:r>
              <a:rPr lang="en-US" dirty="0" err="1"/>
              <a:t>idetë</a:t>
            </a:r>
            <a:r>
              <a:rPr lang="en-US" dirty="0"/>
              <a:t> </a:t>
            </a:r>
            <a:r>
              <a:rPr lang="en-US" dirty="0" err="1"/>
              <a:t>konceptuale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produkte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sisteme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prekshme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funksionale</a:t>
            </a:r>
            <a:r>
              <a:rPr lang="en-US" dirty="0"/>
              <a:t>. </a:t>
            </a:r>
            <a:r>
              <a:rPr lang="en-US" dirty="0" err="1"/>
              <a:t>Rëndësia</a:t>
            </a:r>
            <a:r>
              <a:rPr lang="en-US" dirty="0"/>
              <a:t> e </a:t>
            </a:r>
            <a:r>
              <a:rPr lang="en-US" dirty="0" err="1"/>
              <a:t>dizajnit</a:t>
            </a:r>
            <a:r>
              <a:rPr lang="en-US" dirty="0"/>
              <a:t> </a:t>
            </a:r>
            <a:r>
              <a:rPr lang="en-US" dirty="0" err="1"/>
              <a:t>inxhinierik</a:t>
            </a:r>
            <a:r>
              <a:rPr lang="en-US" dirty="0"/>
              <a:t> </a:t>
            </a:r>
            <a:r>
              <a:rPr lang="en-US" dirty="0" err="1"/>
              <a:t>shtrihet</a:t>
            </a:r>
            <a:r>
              <a:rPr lang="en-US" dirty="0"/>
              <a:t> </a:t>
            </a:r>
            <a:r>
              <a:rPr lang="en-US" dirty="0" err="1"/>
              <a:t>shumë</a:t>
            </a:r>
            <a:r>
              <a:rPr lang="en-US" dirty="0"/>
              <a:t> </a:t>
            </a:r>
            <a:r>
              <a:rPr lang="en-US" dirty="0" err="1"/>
              <a:t>përtej</a:t>
            </a:r>
            <a:r>
              <a:rPr lang="en-US" dirty="0"/>
              <a:t> </a:t>
            </a:r>
            <a:r>
              <a:rPr lang="en-US" dirty="0" err="1"/>
              <a:t>inovacionit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. Ai </a:t>
            </a:r>
            <a:r>
              <a:rPr lang="en-US" dirty="0" err="1"/>
              <a:t>shërben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nyja</a:t>
            </a:r>
            <a:r>
              <a:rPr lang="en-US" dirty="0"/>
              <a:t> </a:t>
            </a:r>
            <a:r>
              <a:rPr lang="en-US" dirty="0" err="1"/>
              <a:t>kyçe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adresimin</a:t>
            </a:r>
            <a:r>
              <a:rPr lang="en-US" dirty="0"/>
              <a:t> e </a:t>
            </a:r>
            <a:r>
              <a:rPr lang="en-US" dirty="0" err="1"/>
              <a:t>sfidave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</a:t>
            </a:r>
            <a:r>
              <a:rPr lang="en-US" dirty="0" err="1"/>
              <a:t>komplekse</a:t>
            </a:r>
            <a:r>
              <a:rPr lang="en-US" dirty="0"/>
              <a:t>—duke </a:t>
            </a:r>
            <a:r>
              <a:rPr lang="en-US" dirty="0" err="1"/>
              <a:t>filluar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sistemet</a:t>
            </a:r>
            <a:r>
              <a:rPr lang="en-US" dirty="0"/>
              <a:t> e </a:t>
            </a:r>
            <a:r>
              <a:rPr lang="en-US" dirty="0" err="1"/>
              <a:t>energjisë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rinovueshme</a:t>
            </a:r>
            <a:r>
              <a:rPr lang="en-US" dirty="0"/>
              <a:t> </a:t>
            </a:r>
            <a:r>
              <a:rPr lang="en-US" dirty="0" err="1"/>
              <a:t>deri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pajisjet</a:t>
            </a:r>
            <a:r>
              <a:rPr lang="en-US" dirty="0"/>
              <a:t> </a:t>
            </a:r>
            <a:r>
              <a:rPr lang="en-US" dirty="0" err="1"/>
              <a:t>mjekësore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avancuara</a:t>
            </a:r>
            <a:r>
              <a:rPr lang="en-US" dirty="0"/>
              <a:t>. </a:t>
            </a:r>
            <a:r>
              <a:rPr lang="en-US" dirty="0" err="1"/>
              <a:t>Historikisht</a:t>
            </a:r>
            <a:r>
              <a:rPr lang="en-US" dirty="0"/>
              <a:t>, </a:t>
            </a:r>
            <a:r>
              <a:rPr lang="en-US" dirty="0" err="1"/>
              <a:t>dizajni</a:t>
            </a:r>
            <a:r>
              <a:rPr lang="en-US" dirty="0"/>
              <a:t> </a:t>
            </a:r>
            <a:r>
              <a:rPr lang="en-US" dirty="0" err="1"/>
              <a:t>mbështetej</a:t>
            </a:r>
            <a:r>
              <a:rPr lang="en-US" dirty="0"/>
              <a:t> </a:t>
            </a:r>
            <a:r>
              <a:rPr lang="en-US" dirty="0" err="1"/>
              <a:t>kryesisht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vizatime</a:t>
            </a:r>
            <a:r>
              <a:rPr lang="en-US" dirty="0"/>
              <a:t> </a:t>
            </a:r>
            <a:r>
              <a:rPr lang="en-US" dirty="0" err="1"/>
              <a:t>manuale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prototipizim</a:t>
            </a:r>
            <a:r>
              <a:rPr lang="en-US" dirty="0"/>
              <a:t> </a:t>
            </a:r>
            <a:r>
              <a:rPr lang="en-US" dirty="0" err="1"/>
              <a:t>fizik</a:t>
            </a:r>
            <a:r>
              <a:rPr lang="en-US" dirty="0"/>
              <a:t>. </a:t>
            </a:r>
            <a:r>
              <a:rPr lang="en-US" dirty="0" err="1"/>
              <a:t>Zhvillimi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programeve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Dizajnit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Ndihmuar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Kompjuteri</a:t>
            </a:r>
            <a:r>
              <a:rPr lang="en-US" dirty="0"/>
              <a:t> (CAD) </a:t>
            </a:r>
            <a:r>
              <a:rPr lang="en-US" dirty="0" err="1"/>
              <a:t>në</a:t>
            </a:r>
            <a:r>
              <a:rPr lang="en-US" dirty="0"/>
              <a:t> fund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shekullit</a:t>
            </a:r>
            <a:r>
              <a:rPr lang="en-US" dirty="0"/>
              <a:t> XX </a:t>
            </a:r>
            <a:r>
              <a:rPr lang="en-US" dirty="0" err="1"/>
              <a:t>solli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ndryshim</a:t>
            </a:r>
            <a:r>
              <a:rPr lang="en-US" dirty="0"/>
              <a:t> </a:t>
            </a:r>
            <a:r>
              <a:rPr lang="en-US" dirty="0" err="1"/>
              <a:t>rrënjësor</a:t>
            </a:r>
            <a:r>
              <a:rPr lang="en-US" dirty="0"/>
              <a:t>, duke </a:t>
            </a:r>
            <a:r>
              <a:rPr lang="en-US" dirty="0" err="1"/>
              <a:t>mundësuar</a:t>
            </a:r>
            <a:r>
              <a:rPr lang="en-US" dirty="0"/>
              <a:t> </a:t>
            </a:r>
            <a:r>
              <a:rPr lang="en-US" dirty="0" err="1"/>
              <a:t>modelim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simulim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saktë</a:t>
            </a:r>
            <a:r>
              <a:rPr lang="en-US" dirty="0"/>
              <a:t> </a:t>
            </a:r>
            <a:r>
              <a:rPr lang="en-US" dirty="0" err="1"/>
              <a:t>dixhital</a:t>
            </a:r>
            <a:r>
              <a:rPr lang="en-US" dirty="0"/>
              <a:t>. </a:t>
            </a:r>
            <a:r>
              <a:rPr lang="en-US" dirty="0" err="1"/>
              <a:t>Ndërsa</a:t>
            </a:r>
            <a:r>
              <a:rPr lang="en-US" dirty="0"/>
              <a:t> </a:t>
            </a:r>
            <a:r>
              <a:rPr lang="en-US" dirty="0" err="1"/>
              <a:t>dizajni</a:t>
            </a:r>
            <a:r>
              <a:rPr lang="en-US" dirty="0"/>
              <a:t> </a:t>
            </a:r>
            <a:r>
              <a:rPr lang="en-US" dirty="0" err="1"/>
              <a:t>inxhinierik</a:t>
            </a:r>
            <a:r>
              <a:rPr lang="en-US" dirty="0"/>
              <a:t> </a:t>
            </a:r>
            <a:r>
              <a:rPr lang="en-US" dirty="0" err="1"/>
              <a:t>vazhdon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evoluojë</a:t>
            </a:r>
            <a:r>
              <a:rPr lang="en-US" dirty="0"/>
              <a:t>, ai </a:t>
            </a:r>
            <a:r>
              <a:rPr lang="en-US" dirty="0" err="1"/>
              <a:t>përballet</a:t>
            </a:r>
            <a:r>
              <a:rPr lang="en-US" dirty="0"/>
              <a:t> me </a:t>
            </a:r>
            <a:r>
              <a:rPr lang="en-US" dirty="0" err="1"/>
              <a:t>mundësi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sfida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shumta</a:t>
            </a:r>
            <a:r>
              <a:rPr lang="en-US" dirty="0"/>
              <a:t>. </a:t>
            </a:r>
            <a:r>
              <a:rPr lang="en-US" dirty="0" err="1"/>
              <a:t>Konvergjenca</a:t>
            </a:r>
            <a:r>
              <a:rPr lang="en-US" dirty="0"/>
              <a:t> e </a:t>
            </a:r>
            <a:r>
              <a:rPr lang="en-US" dirty="0" err="1"/>
              <a:t>nanoteknologjisë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bioteknologjisë</a:t>
            </a:r>
            <a:r>
              <a:rPr lang="en-US" dirty="0"/>
              <a:t> </a:t>
            </a:r>
            <a:r>
              <a:rPr lang="en-US" dirty="0" err="1"/>
              <a:t>premton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revolucionarizojë</a:t>
            </a:r>
            <a:r>
              <a:rPr lang="en-US" dirty="0"/>
              <a:t> </a:t>
            </a:r>
            <a:r>
              <a:rPr lang="en-US" dirty="0" err="1"/>
              <a:t>sektorë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tillë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888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këtë</a:t>
            </a:r>
            <a:r>
              <a:rPr lang="en-US" dirty="0"/>
              <a:t> </a:t>
            </a:r>
            <a:r>
              <a:rPr lang="en-US" dirty="0" err="1"/>
              <a:t>studim</a:t>
            </a:r>
            <a:r>
              <a:rPr lang="en-US" dirty="0"/>
              <a:t>,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prezantoj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model </a:t>
            </a:r>
            <a:r>
              <a:rPr lang="en-US" dirty="0" err="1"/>
              <a:t>specifik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shasisë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rimorkio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kontejnerë</a:t>
            </a:r>
            <a:r>
              <a:rPr lang="en-US" dirty="0"/>
              <a:t>, duke u </a:t>
            </a:r>
            <a:r>
              <a:rPr lang="en-US" dirty="0" err="1"/>
              <a:t>fokusuar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procesin</a:t>
            </a:r>
            <a:r>
              <a:rPr lang="en-US" dirty="0"/>
              <a:t> e </a:t>
            </a:r>
            <a:r>
              <a:rPr lang="en-US" dirty="0" err="1"/>
              <a:t>dizajnit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analizën</a:t>
            </a:r>
            <a:r>
              <a:rPr lang="en-US" dirty="0"/>
              <a:t> e </a:t>
            </a:r>
            <a:r>
              <a:rPr lang="en-US" dirty="0" err="1"/>
              <a:t>ngarkesës</a:t>
            </a:r>
            <a:r>
              <a:rPr lang="en-US" dirty="0"/>
              <a:t>. Duke </a:t>
            </a:r>
            <a:r>
              <a:rPr lang="en-US" dirty="0" err="1"/>
              <a:t>integruar</a:t>
            </a:r>
            <a:r>
              <a:rPr lang="en-US" dirty="0"/>
              <a:t> </a:t>
            </a:r>
            <a:r>
              <a:rPr lang="en-US" dirty="0" err="1"/>
              <a:t>mjete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metodologji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avancuara</a:t>
            </a:r>
            <a:r>
              <a:rPr lang="en-US" dirty="0"/>
              <a:t> </a:t>
            </a:r>
            <a:r>
              <a:rPr lang="en-US" dirty="0" err="1"/>
              <a:t>inxhinierike</a:t>
            </a:r>
            <a:r>
              <a:rPr lang="en-US" dirty="0"/>
              <a:t>, </a:t>
            </a:r>
            <a:r>
              <a:rPr lang="en-US" dirty="0" err="1"/>
              <a:t>ky</a:t>
            </a:r>
            <a:r>
              <a:rPr lang="en-US" dirty="0"/>
              <a:t> model </a:t>
            </a:r>
            <a:r>
              <a:rPr lang="en-US" dirty="0" err="1"/>
              <a:t>synon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përmbushë</a:t>
            </a:r>
            <a:r>
              <a:rPr lang="en-US" dirty="0"/>
              <a:t> </a:t>
            </a:r>
            <a:r>
              <a:rPr lang="en-US" dirty="0" err="1"/>
              <a:t>standardet</a:t>
            </a:r>
            <a:r>
              <a:rPr lang="en-US" dirty="0"/>
              <a:t> e industries.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këtë</a:t>
            </a:r>
            <a:r>
              <a:rPr lang="en-US" dirty="0"/>
              <a:t> </a:t>
            </a:r>
            <a:r>
              <a:rPr lang="en-US" dirty="0" err="1"/>
              <a:t>studim</a:t>
            </a:r>
            <a:r>
              <a:rPr lang="en-US" dirty="0"/>
              <a:t>, </a:t>
            </a:r>
            <a:r>
              <a:rPr lang="en-US" dirty="0" err="1"/>
              <a:t>kam</a:t>
            </a:r>
            <a:r>
              <a:rPr lang="en-US" dirty="0"/>
              <a:t> </a:t>
            </a:r>
            <a:r>
              <a:rPr lang="en-US" dirty="0" err="1"/>
              <a:t>përdorur</a:t>
            </a:r>
            <a:r>
              <a:rPr lang="en-US" dirty="0"/>
              <a:t> </a:t>
            </a:r>
            <a:r>
              <a:rPr lang="en-US" dirty="0" err="1"/>
              <a:t>Solidworks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dizajnin</a:t>
            </a:r>
            <a:r>
              <a:rPr lang="en-US" dirty="0"/>
              <a:t>, </a:t>
            </a:r>
            <a:r>
              <a:rPr lang="en-US" dirty="0" err="1"/>
              <a:t>ashtu</a:t>
            </a:r>
            <a:r>
              <a:rPr lang="en-US" dirty="0"/>
              <a:t> </a:t>
            </a:r>
            <a:r>
              <a:rPr lang="en-US" dirty="0" err="1"/>
              <a:t>edhe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analizën</a:t>
            </a:r>
            <a:r>
              <a:rPr lang="en-US" dirty="0"/>
              <a:t> e </a:t>
            </a:r>
            <a:r>
              <a:rPr lang="en-US" dirty="0" err="1"/>
              <a:t>ngarkesës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shasisë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rimorkios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kontejnerë</a:t>
            </a:r>
            <a:r>
              <a:rPr lang="en-US" dirty="0"/>
              <a:t>. </a:t>
            </a:r>
            <a:r>
              <a:rPr lang="en-US" dirty="0" err="1"/>
              <a:t>Solidworks</a:t>
            </a:r>
            <a:r>
              <a:rPr lang="en-US" dirty="0"/>
              <a:t> </a:t>
            </a:r>
            <a:r>
              <a:rPr lang="en-US" dirty="0" err="1"/>
              <a:t>ofroi</a:t>
            </a:r>
            <a:r>
              <a:rPr lang="en-US" dirty="0"/>
              <a:t> </a:t>
            </a:r>
            <a:r>
              <a:rPr lang="en-US" dirty="0" err="1"/>
              <a:t>mjete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avancuara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modelim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simulim</a:t>
            </a:r>
            <a:r>
              <a:rPr lang="en-US" dirty="0"/>
              <a:t>, duke </a:t>
            </a:r>
            <a:r>
              <a:rPr lang="en-US" dirty="0" err="1"/>
              <a:t>mundësuar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dizajn</a:t>
            </a:r>
            <a:r>
              <a:rPr lang="en-US" dirty="0"/>
              <a:t> </a:t>
            </a:r>
            <a:r>
              <a:rPr lang="en-US" dirty="0" err="1"/>
              <a:t>gjeometrik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saktë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strukturore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detajuara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608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Hapi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dizajnimin</a:t>
            </a:r>
            <a:r>
              <a:rPr lang="en-US" dirty="0"/>
              <a:t> e </a:t>
            </a:r>
            <a:r>
              <a:rPr lang="en-US" dirty="0" err="1"/>
              <a:t>këti</a:t>
            </a:r>
            <a:r>
              <a:rPr lang="en-US" dirty="0"/>
              <a:t> </a:t>
            </a:r>
            <a:r>
              <a:rPr lang="en-US" dirty="0" err="1"/>
              <a:t>konstruksioni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softuer</a:t>
            </a:r>
            <a:r>
              <a:rPr lang="en-US" dirty="0"/>
              <a:t>,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vizatimi</a:t>
            </a:r>
            <a:r>
              <a:rPr lang="en-US" dirty="0"/>
              <a:t> </a:t>
            </a:r>
            <a:r>
              <a:rPr lang="en-US" dirty="0" err="1"/>
              <a:t>bazë</a:t>
            </a:r>
            <a:r>
              <a:rPr lang="en-US" dirty="0"/>
              <a:t> me </a:t>
            </a:r>
            <a:r>
              <a:rPr lang="en-US" dirty="0" err="1"/>
              <a:t>komandën</a:t>
            </a:r>
            <a:r>
              <a:rPr lang="en-US" dirty="0"/>
              <a:t> “Sketch”.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këtë</a:t>
            </a:r>
            <a:r>
              <a:rPr lang="en-US" dirty="0"/>
              <a:t> Sketch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vizatohen</a:t>
            </a:r>
            <a:r>
              <a:rPr lang="en-US" dirty="0"/>
              <a:t> </a:t>
            </a:r>
            <a:r>
              <a:rPr lang="en-US" dirty="0" err="1"/>
              <a:t>gjatësia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distanca</a:t>
            </a:r>
            <a:r>
              <a:rPr lang="en-US" dirty="0"/>
              <a:t> e </a:t>
            </a:r>
            <a:r>
              <a:rPr lang="en-US" dirty="0" err="1"/>
              <a:t>trarëve</a:t>
            </a:r>
            <a:r>
              <a:rPr lang="en-US" dirty="0"/>
              <a:t> </a:t>
            </a:r>
            <a:r>
              <a:rPr lang="en-US" dirty="0" err="1"/>
              <a:t>kryesorë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shasisë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rimorkios</a:t>
            </a:r>
            <a:r>
              <a:rPr lang="en-US" dirty="0"/>
              <a:t>.</a:t>
            </a:r>
          </a:p>
          <a:p>
            <a:r>
              <a:rPr lang="en-US" dirty="0" err="1"/>
              <a:t>Hapi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dizajnimin</a:t>
            </a:r>
            <a:r>
              <a:rPr lang="en-US" dirty="0"/>
              <a:t> e </a:t>
            </a:r>
            <a:r>
              <a:rPr lang="en-US" dirty="0" err="1"/>
              <a:t>këti</a:t>
            </a:r>
            <a:r>
              <a:rPr lang="en-US" dirty="0"/>
              <a:t> </a:t>
            </a:r>
            <a:r>
              <a:rPr lang="en-US" dirty="0" err="1"/>
              <a:t>konstruksioni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softuer</a:t>
            </a:r>
            <a:r>
              <a:rPr lang="en-US" dirty="0"/>
              <a:t>,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vizatimi</a:t>
            </a:r>
            <a:r>
              <a:rPr lang="en-US" dirty="0"/>
              <a:t> </a:t>
            </a:r>
            <a:r>
              <a:rPr lang="en-US" dirty="0" err="1"/>
              <a:t>bazë</a:t>
            </a:r>
            <a:r>
              <a:rPr lang="en-US" dirty="0"/>
              <a:t> me </a:t>
            </a:r>
            <a:r>
              <a:rPr lang="en-US" dirty="0" err="1"/>
              <a:t>komandën</a:t>
            </a:r>
            <a:r>
              <a:rPr lang="en-US" dirty="0"/>
              <a:t> “Sketch”.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këtë</a:t>
            </a:r>
            <a:r>
              <a:rPr lang="en-US" dirty="0"/>
              <a:t> Sketch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vizatohen</a:t>
            </a:r>
            <a:r>
              <a:rPr lang="en-US" dirty="0"/>
              <a:t> </a:t>
            </a:r>
            <a:r>
              <a:rPr lang="en-US" dirty="0" err="1"/>
              <a:t>gjatësia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distanca</a:t>
            </a:r>
            <a:r>
              <a:rPr lang="en-US" dirty="0"/>
              <a:t> e </a:t>
            </a:r>
            <a:r>
              <a:rPr lang="en-US" dirty="0" err="1"/>
              <a:t>trarëve</a:t>
            </a:r>
            <a:r>
              <a:rPr lang="en-US" dirty="0"/>
              <a:t> </a:t>
            </a:r>
            <a:r>
              <a:rPr lang="en-US" dirty="0" err="1"/>
              <a:t>kryesorë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shasisë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rimorkios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73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rastin</a:t>
            </a:r>
            <a:r>
              <a:rPr lang="en-US" dirty="0"/>
              <a:t> e </a:t>
            </a:r>
            <a:r>
              <a:rPr lang="en-US" dirty="0" err="1"/>
              <a:t>dhënë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vizatimi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,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marrë</a:t>
            </a:r>
            <a:r>
              <a:rPr lang="en-US" dirty="0"/>
              <a:t> </a:t>
            </a:r>
            <a:r>
              <a:rPr lang="en-US" dirty="0" err="1"/>
              <a:t>profilet</a:t>
            </a:r>
            <a:r>
              <a:rPr lang="en-US" dirty="0"/>
              <a:t> I.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t’iu</a:t>
            </a:r>
            <a:r>
              <a:rPr lang="en-US" dirty="0"/>
              <a:t> </a:t>
            </a:r>
            <a:r>
              <a:rPr lang="en-US" dirty="0" err="1"/>
              <a:t>përshtatur</a:t>
            </a:r>
            <a:r>
              <a:rPr lang="en-US" dirty="0"/>
              <a:t> </a:t>
            </a:r>
            <a:r>
              <a:rPr lang="en-US" dirty="0" err="1"/>
              <a:t>vizatimit</a:t>
            </a:r>
            <a:r>
              <a:rPr lang="en-US" dirty="0"/>
              <a:t> </a:t>
            </a:r>
            <a:r>
              <a:rPr lang="en-US" dirty="0" err="1"/>
              <a:t>duhet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pjesë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prejmë</a:t>
            </a:r>
            <a:r>
              <a:rPr lang="en-US" dirty="0"/>
              <a:t>,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këtë</a:t>
            </a:r>
            <a:r>
              <a:rPr lang="en-US" dirty="0"/>
              <a:t> e </a:t>
            </a:r>
            <a:r>
              <a:rPr lang="en-US" dirty="0" err="1"/>
              <a:t>bëjmë</a:t>
            </a:r>
            <a:r>
              <a:rPr lang="en-US" dirty="0"/>
              <a:t> duke </a:t>
            </a:r>
            <a:r>
              <a:rPr lang="en-US" dirty="0" err="1"/>
              <a:t>vizatuar</a:t>
            </a:r>
            <a:r>
              <a:rPr lang="en-US" dirty="0"/>
              <a:t> </a:t>
            </a:r>
            <a:r>
              <a:rPr lang="en-US" dirty="0" err="1"/>
              <a:t>konturën</a:t>
            </a:r>
            <a:r>
              <a:rPr lang="en-US" dirty="0"/>
              <a:t> e </a:t>
            </a:r>
            <a:r>
              <a:rPr lang="en-US" dirty="0" err="1"/>
              <a:t>prerjes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sketch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profilit</a:t>
            </a:r>
            <a:r>
              <a:rPr lang="en-US" dirty="0"/>
              <a:t>..</a:t>
            </a:r>
          </a:p>
          <a:p>
            <a:r>
              <a:rPr lang="en-US" dirty="0" err="1"/>
              <a:t>Konturën</a:t>
            </a:r>
            <a:r>
              <a:rPr lang="en-US" dirty="0"/>
              <a:t> e </a:t>
            </a:r>
            <a:r>
              <a:rPr lang="en-US" dirty="0" err="1"/>
              <a:t>vizatuar</a:t>
            </a:r>
            <a:r>
              <a:rPr lang="en-US" dirty="0"/>
              <a:t>, me </a:t>
            </a:r>
            <a:r>
              <a:rPr lang="en-US" dirty="0" err="1"/>
              <a:t>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komandës</a:t>
            </a:r>
            <a:r>
              <a:rPr lang="en-US" dirty="0"/>
              <a:t> “Cut-Extrude” e </a:t>
            </a:r>
            <a:r>
              <a:rPr lang="en-US" dirty="0" err="1"/>
              <a:t>prejmë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profilit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05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Rezultati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prerjes</a:t>
            </a:r>
            <a:r>
              <a:rPr lang="en-US" dirty="0"/>
              <a:t> me </a:t>
            </a:r>
            <a:r>
              <a:rPr lang="en-US" dirty="0" err="1"/>
              <a:t>komandën</a:t>
            </a:r>
            <a:r>
              <a:rPr lang="en-US" dirty="0"/>
              <a:t> “Cut-Extrude”.</a:t>
            </a:r>
          </a:p>
          <a:p>
            <a:r>
              <a:rPr lang="en-US" dirty="0" err="1"/>
              <a:t>Pjesën</a:t>
            </a:r>
            <a:r>
              <a:rPr lang="en-US" dirty="0"/>
              <a:t> e </a:t>
            </a:r>
            <a:r>
              <a:rPr lang="en-US" dirty="0" err="1"/>
              <a:t>poshtme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profilit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cili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prerja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komanda</a:t>
            </a:r>
            <a:r>
              <a:rPr lang="en-US" dirty="0"/>
              <a:t> e </a:t>
            </a:r>
            <a:r>
              <a:rPr lang="en-US" dirty="0" err="1"/>
              <a:t>kaluar</a:t>
            </a:r>
            <a:r>
              <a:rPr lang="en-US" dirty="0"/>
              <a:t>, me </a:t>
            </a:r>
            <a:r>
              <a:rPr lang="en-US" dirty="0" err="1"/>
              <a:t>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komandës</a:t>
            </a:r>
            <a:r>
              <a:rPr lang="en-US" dirty="0"/>
              <a:t> “3D Sketch” </a:t>
            </a:r>
            <a:r>
              <a:rPr lang="en-US" dirty="0" err="1"/>
              <a:t>dhe</a:t>
            </a:r>
            <a:r>
              <a:rPr lang="en-US" dirty="0"/>
              <a:t> “Sweep” e </a:t>
            </a:r>
            <a:r>
              <a:rPr lang="en-US" dirty="0" err="1"/>
              <a:t>përcjellim</a:t>
            </a:r>
            <a:r>
              <a:rPr lang="en-US" dirty="0"/>
              <a:t> </a:t>
            </a:r>
            <a:r>
              <a:rPr lang="en-US" dirty="0" err="1"/>
              <a:t>përgjat</a:t>
            </a:r>
            <a:r>
              <a:rPr lang="en-US" dirty="0"/>
              <a:t> </a:t>
            </a:r>
            <a:r>
              <a:rPr lang="en-US" dirty="0" err="1"/>
              <a:t>vijës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prerë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profilit</a:t>
            </a:r>
            <a:r>
              <a:rPr lang="en-US" dirty="0"/>
              <a:t>. </a:t>
            </a:r>
            <a:r>
              <a:rPr lang="en-US" dirty="0" err="1"/>
              <a:t>Komanda</a:t>
            </a:r>
            <a:r>
              <a:rPr lang="en-US" dirty="0"/>
              <a:t> “3D Sketch” </a:t>
            </a:r>
            <a:r>
              <a:rPr lang="en-US" dirty="0" err="1"/>
              <a:t>shërben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vizatuar</a:t>
            </a:r>
            <a:r>
              <a:rPr lang="en-US" dirty="0"/>
              <a:t> </a:t>
            </a:r>
            <a:r>
              <a:rPr lang="en-US" dirty="0" err="1"/>
              <a:t>trajektoren</a:t>
            </a:r>
            <a:r>
              <a:rPr lang="en-US" dirty="0"/>
              <a:t>, </a:t>
            </a:r>
            <a:r>
              <a:rPr lang="en-US" dirty="0" err="1"/>
              <a:t>dhe</a:t>
            </a:r>
            <a:r>
              <a:rPr lang="en-US" dirty="0"/>
              <a:t> me </a:t>
            </a:r>
            <a:r>
              <a:rPr lang="en-US" dirty="0" err="1"/>
              <a:t>komandën</a:t>
            </a:r>
            <a:r>
              <a:rPr lang="en-US" dirty="0"/>
              <a:t> “Sweep” </a:t>
            </a:r>
            <a:r>
              <a:rPr lang="en-US" dirty="0" err="1"/>
              <a:t>zgjedhim</a:t>
            </a:r>
            <a:r>
              <a:rPr lang="en-US" dirty="0"/>
              <a:t> </a:t>
            </a:r>
            <a:r>
              <a:rPr lang="en-US" dirty="0" err="1"/>
              <a:t>sipërfaqen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cilën</a:t>
            </a:r>
            <a:r>
              <a:rPr lang="en-US" dirty="0"/>
              <a:t> </a:t>
            </a:r>
            <a:r>
              <a:rPr lang="en-US" dirty="0" err="1"/>
              <a:t>dojmë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vazhdojmë</a:t>
            </a:r>
            <a:r>
              <a:rPr lang="en-US" dirty="0"/>
              <a:t> </a:t>
            </a:r>
            <a:r>
              <a:rPr lang="en-US" dirty="0" err="1"/>
              <a:t>përgjatë</a:t>
            </a:r>
            <a:r>
              <a:rPr lang="en-US" dirty="0"/>
              <a:t> </a:t>
            </a:r>
            <a:r>
              <a:rPr lang="en-US" dirty="0" err="1"/>
              <a:t>trajektores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962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Profilin e </a:t>
            </a:r>
            <a:r>
              <a:rPr lang="en-US" dirty="0" err="1"/>
              <a:t>punuar</a:t>
            </a:r>
            <a:r>
              <a:rPr lang="en-US" dirty="0"/>
              <a:t>, me </a:t>
            </a:r>
            <a:r>
              <a:rPr lang="en-US" dirty="0" err="1"/>
              <a:t>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komandës</a:t>
            </a:r>
            <a:r>
              <a:rPr lang="en-US" dirty="0"/>
              <a:t> “Mirror”, e </a:t>
            </a:r>
            <a:r>
              <a:rPr lang="en-US" dirty="0" err="1"/>
              <a:t>pasqyrojmë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relacion</a:t>
            </a:r>
            <a:r>
              <a:rPr lang="en-US" dirty="0"/>
              <a:t> me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rrafsh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caktuar</a:t>
            </a:r>
            <a:r>
              <a:rPr lang="en-US" dirty="0"/>
              <a:t>,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rastin</a:t>
            </a:r>
            <a:r>
              <a:rPr lang="en-US" dirty="0"/>
              <a:t> </a:t>
            </a:r>
            <a:r>
              <a:rPr lang="en-US" dirty="0" err="1"/>
              <a:t>tonë</a:t>
            </a:r>
            <a:r>
              <a:rPr lang="en-US" dirty="0"/>
              <a:t> e </a:t>
            </a:r>
            <a:r>
              <a:rPr lang="en-US" dirty="0" err="1"/>
              <a:t>pasqyrojmë</a:t>
            </a:r>
            <a:r>
              <a:rPr lang="en-US" dirty="0"/>
              <a:t> </a:t>
            </a:r>
            <a:r>
              <a:rPr lang="en-US" dirty="0" err="1"/>
              <a:t>ndaj</a:t>
            </a:r>
            <a:r>
              <a:rPr lang="en-US" dirty="0"/>
              <a:t> </a:t>
            </a:r>
            <a:r>
              <a:rPr lang="en-US" dirty="0" err="1"/>
              <a:t>rrafshit</a:t>
            </a:r>
            <a:r>
              <a:rPr lang="en-US" dirty="0"/>
              <a:t> “Front Plane”.</a:t>
            </a:r>
          </a:p>
          <a:p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vizatimi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parë</a:t>
            </a:r>
            <a:r>
              <a:rPr lang="en-US" dirty="0"/>
              <a:t>, </a:t>
            </a:r>
            <a:r>
              <a:rPr lang="en-US" dirty="0" err="1"/>
              <a:t>shtojmë</a:t>
            </a:r>
            <a:r>
              <a:rPr lang="en-US" dirty="0"/>
              <a:t> </a:t>
            </a:r>
            <a:r>
              <a:rPr lang="en-US" dirty="0" err="1"/>
              <a:t>edhe</a:t>
            </a:r>
            <a:r>
              <a:rPr lang="en-US" dirty="0"/>
              <a:t> </a:t>
            </a:r>
            <a:r>
              <a:rPr lang="en-US" dirty="0" err="1"/>
              <a:t>dy</a:t>
            </a:r>
            <a:r>
              <a:rPr lang="en-US" dirty="0"/>
              <a:t> </a:t>
            </a:r>
            <a:r>
              <a:rPr lang="en-US" dirty="0" err="1"/>
              <a:t>vija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profilet</a:t>
            </a:r>
            <a:r>
              <a:rPr lang="en-US" dirty="0"/>
              <a:t> </a:t>
            </a:r>
            <a:r>
              <a:rPr lang="en-US" dirty="0" err="1"/>
              <a:t>ekuilibruese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kontejnerëve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335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Vijat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shtuam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vizatimin</a:t>
            </a:r>
            <a:r>
              <a:rPr lang="en-US" dirty="0"/>
              <a:t> </a:t>
            </a:r>
            <a:r>
              <a:rPr lang="en-US" dirty="0" err="1"/>
              <a:t>bazë</a:t>
            </a:r>
            <a:r>
              <a:rPr lang="en-US" dirty="0"/>
              <a:t>, </a:t>
            </a:r>
            <a:r>
              <a:rPr lang="en-US" dirty="0" err="1"/>
              <a:t>përsëri</a:t>
            </a:r>
            <a:r>
              <a:rPr lang="en-US" dirty="0"/>
              <a:t> me </a:t>
            </a:r>
            <a:r>
              <a:rPr lang="en-US" dirty="0" err="1"/>
              <a:t>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komandës</a:t>
            </a:r>
            <a:r>
              <a:rPr lang="en-US" dirty="0"/>
              <a:t> “Structural Members” </a:t>
            </a:r>
            <a:r>
              <a:rPr lang="en-US" dirty="0" err="1"/>
              <a:t>shtojmë</a:t>
            </a:r>
            <a:r>
              <a:rPr lang="en-US" dirty="0"/>
              <a:t> profile,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këtë</a:t>
            </a:r>
            <a:r>
              <a:rPr lang="en-US" dirty="0"/>
              <a:t> </a:t>
            </a:r>
            <a:r>
              <a:rPr lang="en-US" dirty="0" err="1"/>
              <a:t>rast</a:t>
            </a:r>
            <a:r>
              <a:rPr lang="en-US" dirty="0"/>
              <a:t> profile </a:t>
            </a:r>
            <a:r>
              <a:rPr lang="en-US" dirty="0" err="1"/>
              <a:t>katrore</a:t>
            </a:r>
            <a:r>
              <a:rPr lang="en-US" dirty="0"/>
              <a:t> </a:t>
            </a:r>
            <a:r>
              <a:rPr lang="en-US" dirty="0" err="1"/>
              <a:t>unazore</a:t>
            </a:r>
            <a:r>
              <a:rPr lang="en-US" dirty="0"/>
              <a:t>. </a:t>
            </a:r>
          </a:p>
          <a:p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sketchin</a:t>
            </a:r>
            <a:r>
              <a:rPr lang="en-US" dirty="0"/>
              <a:t> </a:t>
            </a:r>
            <a:r>
              <a:rPr lang="en-US" dirty="0" err="1"/>
              <a:t>bazë</a:t>
            </a:r>
            <a:r>
              <a:rPr lang="en-US" dirty="0"/>
              <a:t>, </a:t>
            </a:r>
            <a:r>
              <a:rPr lang="en-US" dirty="0" err="1"/>
              <a:t>shtojmë</a:t>
            </a:r>
            <a:r>
              <a:rPr lang="en-US" dirty="0"/>
              <a:t> </a:t>
            </a:r>
            <a:r>
              <a:rPr lang="en-US" dirty="0" err="1"/>
              <a:t>edhe</a:t>
            </a:r>
            <a:r>
              <a:rPr lang="en-US" dirty="0"/>
              <a:t> </a:t>
            </a:r>
            <a:r>
              <a:rPr lang="en-US" dirty="0" err="1"/>
              <a:t>disa</a:t>
            </a:r>
            <a:r>
              <a:rPr lang="en-US" dirty="0"/>
              <a:t> </a:t>
            </a:r>
            <a:r>
              <a:rPr lang="en-US" dirty="0" err="1"/>
              <a:t>segmente</a:t>
            </a:r>
            <a:r>
              <a:rPr lang="en-US" dirty="0"/>
              <a:t> </a:t>
            </a: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trarëve</a:t>
            </a:r>
            <a:r>
              <a:rPr lang="en-US" dirty="0"/>
              <a:t> </a:t>
            </a:r>
            <a:r>
              <a:rPr lang="en-US" dirty="0" err="1"/>
              <a:t>kryesorë</a:t>
            </a:r>
            <a:r>
              <a:rPr lang="en-US" dirty="0"/>
              <a:t>, me </a:t>
            </a:r>
            <a:r>
              <a:rPr lang="en-US" dirty="0" err="1"/>
              <a:t>distanca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barabarta</a:t>
            </a:r>
            <a:r>
              <a:rPr lang="en-US" dirty="0"/>
              <a:t>,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shërbejnë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lidhje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përforcues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trarët</a:t>
            </a:r>
            <a:r>
              <a:rPr lang="en-US" dirty="0"/>
              <a:t> </a:t>
            </a:r>
            <a:r>
              <a:rPr lang="en-US" dirty="0" err="1"/>
              <a:t>kryesorë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71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segmentet</a:t>
            </a:r>
            <a:r>
              <a:rPr lang="en-US" dirty="0"/>
              <a:t> e </a:t>
            </a:r>
            <a:r>
              <a:rPr lang="en-US" dirty="0" err="1"/>
              <a:t>reja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shtuara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vizatim</a:t>
            </a:r>
            <a:r>
              <a:rPr lang="en-US" dirty="0"/>
              <a:t>, </a:t>
            </a:r>
            <a:r>
              <a:rPr lang="en-US" dirty="0" err="1"/>
              <a:t>vendosim</a:t>
            </a:r>
            <a:r>
              <a:rPr lang="en-US" dirty="0"/>
              <a:t> profile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reja</a:t>
            </a:r>
            <a:r>
              <a:rPr lang="en-US" dirty="0"/>
              <a:t> me </a:t>
            </a:r>
            <a:r>
              <a:rPr lang="en-US" dirty="0" err="1"/>
              <a:t>komandën</a:t>
            </a:r>
            <a:r>
              <a:rPr lang="en-US" dirty="0"/>
              <a:t> “Structural Members”.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këto</a:t>
            </a:r>
            <a:r>
              <a:rPr lang="en-US" dirty="0"/>
              <a:t> </a:t>
            </a:r>
            <a:r>
              <a:rPr lang="en-US" dirty="0" err="1"/>
              <a:t>segmente</a:t>
            </a:r>
            <a:r>
              <a:rPr lang="en-US" dirty="0"/>
              <a:t>, </a:t>
            </a:r>
            <a:r>
              <a:rPr lang="en-US" dirty="0" err="1"/>
              <a:t>zgjedhim</a:t>
            </a:r>
            <a:r>
              <a:rPr lang="en-US" dirty="0"/>
              <a:t> </a:t>
            </a:r>
            <a:r>
              <a:rPr lang="en-US" dirty="0" err="1"/>
              <a:t>profilet</a:t>
            </a:r>
            <a:r>
              <a:rPr lang="en-US" dirty="0"/>
              <a:t> C. </a:t>
            </a:r>
          </a:p>
          <a:p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gjitha</a:t>
            </a:r>
            <a:r>
              <a:rPr lang="en-US" dirty="0"/>
              <a:t> </a:t>
            </a:r>
            <a:r>
              <a:rPr lang="en-US" dirty="0" err="1"/>
              <a:t>profilet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vendosur</a:t>
            </a:r>
            <a:r>
              <a:rPr lang="en-US" dirty="0"/>
              <a:t>, </a:t>
            </a:r>
            <a:r>
              <a:rPr lang="en-US" dirty="0" err="1"/>
              <a:t>kalojnë</a:t>
            </a:r>
            <a:r>
              <a:rPr lang="en-US" dirty="0"/>
              <a:t> </a:t>
            </a:r>
            <a:r>
              <a:rPr lang="en-US" dirty="0" err="1"/>
              <a:t>përmes</a:t>
            </a:r>
            <a:r>
              <a:rPr lang="en-US" dirty="0"/>
              <a:t> </a:t>
            </a:r>
            <a:r>
              <a:rPr lang="en-US" dirty="0" err="1"/>
              <a:t>njëri-tjetrit</a:t>
            </a:r>
            <a:r>
              <a:rPr lang="en-US" dirty="0"/>
              <a:t>, </a:t>
            </a:r>
            <a:r>
              <a:rPr lang="en-US" dirty="0" err="1"/>
              <a:t>pra</a:t>
            </a:r>
            <a:r>
              <a:rPr lang="en-US" dirty="0"/>
              <a:t> ka </a:t>
            </a:r>
            <a:r>
              <a:rPr lang="en-US" dirty="0" err="1"/>
              <a:t>interefenca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sipërfaqe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tyre</a:t>
            </a:r>
            <a:r>
              <a:rPr lang="en-US" dirty="0"/>
              <a:t>,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gjatë</a:t>
            </a:r>
            <a:r>
              <a:rPr lang="en-US" dirty="0"/>
              <a:t> </a:t>
            </a:r>
            <a:r>
              <a:rPr lang="en-US" dirty="0" err="1"/>
              <a:t>analizave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shkaktojnë</a:t>
            </a:r>
            <a:r>
              <a:rPr lang="en-US" dirty="0"/>
              <a:t> </a:t>
            </a:r>
            <a:r>
              <a:rPr lang="en-US" dirty="0" err="1"/>
              <a:t>probleme</a:t>
            </a:r>
            <a:r>
              <a:rPr lang="en-US" dirty="0"/>
              <a:t>.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shmangur</a:t>
            </a:r>
            <a:r>
              <a:rPr lang="en-US" dirty="0"/>
              <a:t> </a:t>
            </a:r>
            <a:r>
              <a:rPr lang="en-US" dirty="0" err="1"/>
              <a:t>këto</a:t>
            </a:r>
            <a:r>
              <a:rPr lang="en-US" dirty="0"/>
              <a:t> interference, </a:t>
            </a:r>
            <a:r>
              <a:rPr lang="en-US" dirty="0" err="1"/>
              <a:t>përdorim</a:t>
            </a:r>
            <a:r>
              <a:rPr lang="en-US" dirty="0"/>
              <a:t> </a:t>
            </a:r>
            <a:r>
              <a:rPr lang="en-US" dirty="0" err="1"/>
              <a:t>komandën</a:t>
            </a:r>
            <a:r>
              <a:rPr lang="en-US" dirty="0"/>
              <a:t> “Trim/Extend”. </a:t>
            </a:r>
            <a:r>
              <a:rPr lang="en-US" dirty="0" err="1"/>
              <a:t>Zgjedhim</a:t>
            </a:r>
            <a:r>
              <a:rPr lang="en-US" dirty="0"/>
              <a:t> </a:t>
            </a:r>
            <a:r>
              <a:rPr lang="en-US" dirty="0" err="1"/>
              <a:t>profilet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duam</a:t>
            </a:r>
            <a:r>
              <a:rPr lang="en-US" dirty="0"/>
              <a:t> </a:t>
            </a:r>
            <a:r>
              <a:rPr lang="en-US" dirty="0" err="1"/>
              <a:t>ti</a:t>
            </a:r>
            <a:r>
              <a:rPr lang="en-US" dirty="0"/>
              <a:t> </a:t>
            </a:r>
            <a:r>
              <a:rPr lang="en-US" dirty="0" err="1"/>
              <a:t>prejmë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trupat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kufizojnë</a:t>
            </a:r>
            <a:r>
              <a:rPr lang="en-US" dirty="0"/>
              <a:t> </a:t>
            </a:r>
            <a:r>
              <a:rPr lang="en-US" dirty="0" err="1"/>
              <a:t>këto</a:t>
            </a:r>
            <a:r>
              <a:rPr lang="en-US" dirty="0"/>
              <a:t> </a:t>
            </a:r>
            <a:r>
              <a:rPr lang="en-US" dirty="0" err="1"/>
              <a:t>prerje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13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</a:t>
            </a:r>
            <a:r>
              <a:rPr lang="en-US" dirty="0" err="1"/>
              <a:t>komandën</a:t>
            </a:r>
            <a:r>
              <a:rPr lang="en-US" dirty="0"/>
              <a:t> “3D Sketch” </a:t>
            </a:r>
            <a:r>
              <a:rPr lang="en-US" dirty="0" err="1"/>
              <a:t>dhe</a:t>
            </a:r>
            <a:r>
              <a:rPr lang="en-US" dirty="0"/>
              <a:t> “Structural Members”, </a:t>
            </a:r>
            <a:r>
              <a:rPr lang="en-US" dirty="0" err="1"/>
              <a:t>vendosim</a:t>
            </a:r>
            <a:r>
              <a:rPr lang="en-US" dirty="0"/>
              <a:t> </a:t>
            </a:r>
            <a:r>
              <a:rPr lang="en-US" dirty="0" err="1"/>
              <a:t>edhe</a:t>
            </a:r>
            <a:r>
              <a:rPr lang="en-US" dirty="0"/>
              <a:t> </a:t>
            </a:r>
            <a:r>
              <a:rPr lang="en-US" dirty="0" err="1"/>
              <a:t>disa</a:t>
            </a:r>
            <a:r>
              <a:rPr lang="en-US" dirty="0"/>
              <a:t> profile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përforcuar</a:t>
            </a:r>
            <a:r>
              <a:rPr lang="en-US" dirty="0"/>
              <a:t> </a:t>
            </a:r>
            <a:r>
              <a:rPr lang="en-US" dirty="0" err="1"/>
              <a:t>profilet</a:t>
            </a:r>
            <a:r>
              <a:rPr lang="en-US" dirty="0"/>
              <a:t> </a:t>
            </a:r>
            <a:r>
              <a:rPr lang="en-US" dirty="0" err="1"/>
              <a:t>katrorë</a:t>
            </a:r>
            <a:r>
              <a:rPr lang="en-US" dirty="0"/>
              <a:t>. </a:t>
            </a:r>
            <a:r>
              <a:rPr lang="en-US" dirty="0" err="1"/>
              <a:t>Dhe</a:t>
            </a:r>
            <a:r>
              <a:rPr lang="en-US" dirty="0"/>
              <a:t> me </a:t>
            </a:r>
            <a:r>
              <a:rPr lang="en-US" dirty="0" err="1"/>
              <a:t>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komandës</a:t>
            </a:r>
            <a:r>
              <a:rPr lang="en-US" dirty="0"/>
              <a:t> “Trim/Extend”, </a:t>
            </a:r>
            <a:r>
              <a:rPr lang="en-US" dirty="0" err="1"/>
              <a:t>largojmë</a:t>
            </a:r>
            <a:r>
              <a:rPr lang="en-US" dirty="0"/>
              <a:t> </a:t>
            </a:r>
            <a:r>
              <a:rPr lang="en-US" dirty="0" err="1"/>
              <a:t>interferencat</a:t>
            </a:r>
            <a:r>
              <a:rPr lang="en-US" dirty="0"/>
              <a:t> </a:t>
            </a: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sipërfaqeve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profileve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599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pjesën</a:t>
            </a:r>
            <a:r>
              <a:rPr lang="en-US" dirty="0"/>
              <a:t> e </a:t>
            </a:r>
            <a:r>
              <a:rPr lang="en-US" dirty="0" err="1"/>
              <a:t>përparme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shasisë</a:t>
            </a:r>
            <a:r>
              <a:rPr lang="en-US" dirty="0"/>
              <a:t> </a:t>
            </a:r>
            <a:r>
              <a:rPr lang="en-US" dirty="0" err="1"/>
              <a:t>shtojmë</a:t>
            </a:r>
            <a:r>
              <a:rPr lang="en-US" dirty="0"/>
              <a:t> </a:t>
            </a:r>
            <a:r>
              <a:rPr lang="en-US" dirty="0" err="1"/>
              <a:t>edhe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 profile, </a:t>
            </a:r>
            <a:r>
              <a:rPr lang="en-US" dirty="0" err="1"/>
              <a:t>ato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shërbejnë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lidhur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pllakë</a:t>
            </a:r>
            <a:r>
              <a:rPr lang="en-US" dirty="0"/>
              <a:t> e </a:t>
            </a:r>
            <a:r>
              <a:rPr lang="en-US" dirty="0" err="1"/>
              <a:t>cila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mbështetet</a:t>
            </a:r>
            <a:r>
              <a:rPr lang="en-US" dirty="0"/>
              <a:t> me </a:t>
            </a:r>
            <a:r>
              <a:rPr lang="en-US" dirty="0" err="1"/>
              <a:t>pjesën</a:t>
            </a:r>
            <a:r>
              <a:rPr lang="en-US" dirty="0"/>
              <a:t> e </a:t>
            </a:r>
            <a:r>
              <a:rPr lang="en-US" dirty="0" err="1"/>
              <a:t>pasme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kokës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kamionit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18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rrafshin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përshkon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 e </a:t>
            </a:r>
            <a:r>
              <a:rPr lang="en-US" dirty="0" err="1"/>
              <a:t>shasisë</a:t>
            </a:r>
            <a:r>
              <a:rPr lang="en-US" dirty="0"/>
              <a:t>, </a:t>
            </a:r>
            <a:r>
              <a:rPr lang="en-US" dirty="0" err="1"/>
              <a:t>vizatojmë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“Sketch”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pllakën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cilën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mbështetet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kamion</a:t>
            </a:r>
            <a:r>
              <a:rPr lang="en-US" dirty="0"/>
              <a:t>. </a:t>
            </a:r>
            <a:r>
              <a:rPr lang="en-US" dirty="0" err="1"/>
              <a:t>Vizatohet</a:t>
            </a:r>
            <a:r>
              <a:rPr lang="en-US" dirty="0"/>
              <a:t> </a:t>
            </a:r>
            <a:r>
              <a:rPr lang="en-US" dirty="0" err="1"/>
              <a:t>prerja</a:t>
            </a:r>
            <a:r>
              <a:rPr lang="en-US" dirty="0"/>
              <a:t> </a:t>
            </a:r>
            <a:r>
              <a:rPr lang="en-US" dirty="0" err="1"/>
              <a:t>tërthore</a:t>
            </a:r>
            <a:r>
              <a:rPr lang="en-US" dirty="0"/>
              <a:t> e </a:t>
            </a:r>
            <a:r>
              <a:rPr lang="en-US" dirty="0" err="1"/>
              <a:t>pllakës</a:t>
            </a:r>
            <a:r>
              <a:rPr lang="en-US" dirty="0"/>
              <a:t>,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gjatësia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trashësia</a:t>
            </a:r>
            <a:r>
              <a:rPr lang="en-US" dirty="0"/>
              <a:t>. Me </a:t>
            </a:r>
            <a:r>
              <a:rPr lang="en-US" dirty="0" err="1"/>
              <a:t>komandën</a:t>
            </a:r>
            <a:r>
              <a:rPr lang="en-US" dirty="0"/>
              <a:t> “Extrude” </a:t>
            </a:r>
            <a:r>
              <a:rPr lang="en-US" dirty="0" err="1"/>
              <a:t>japim</a:t>
            </a:r>
            <a:r>
              <a:rPr lang="en-US" dirty="0"/>
              <a:t> </a:t>
            </a:r>
            <a:r>
              <a:rPr lang="en-US" dirty="0" err="1"/>
              <a:t>gjerësin</a:t>
            </a:r>
            <a:r>
              <a:rPr lang="en-US" dirty="0"/>
              <a:t> e </a:t>
            </a:r>
            <a:r>
              <a:rPr lang="en-US" dirty="0" err="1"/>
              <a:t>pllakës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cilën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vizatuar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“Sketch”-in e </a:t>
            </a:r>
            <a:r>
              <a:rPr lang="en-US" dirty="0" err="1"/>
              <a:t>kaluar</a:t>
            </a:r>
            <a:r>
              <a:rPr lang="en-US" dirty="0"/>
              <a:t>. </a:t>
            </a:r>
            <a:r>
              <a:rPr lang="en-US" dirty="0" err="1"/>
              <a:t>Gjerësinë</a:t>
            </a:r>
            <a:r>
              <a:rPr lang="en-US" dirty="0"/>
              <a:t> e </a:t>
            </a:r>
            <a:r>
              <a:rPr lang="en-US" dirty="0" err="1"/>
              <a:t>pllakës</a:t>
            </a:r>
            <a:r>
              <a:rPr lang="en-US" dirty="0"/>
              <a:t> </a:t>
            </a:r>
            <a:r>
              <a:rPr lang="en-US" dirty="0" err="1"/>
              <a:t>sipas</a:t>
            </a:r>
            <a:r>
              <a:rPr lang="en-US" dirty="0"/>
              <a:t> </a:t>
            </a:r>
            <a:r>
              <a:rPr lang="en-US" dirty="0" err="1"/>
              <a:t>vizatimit</a:t>
            </a:r>
            <a:r>
              <a:rPr lang="en-US" dirty="0"/>
              <a:t> </a:t>
            </a:r>
            <a:r>
              <a:rPr lang="en-US" dirty="0" err="1"/>
              <a:t>teknik</a:t>
            </a:r>
            <a:r>
              <a:rPr lang="en-US" dirty="0"/>
              <a:t> e </a:t>
            </a:r>
            <a:r>
              <a:rPr lang="en-US" dirty="0" err="1"/>
              <a:t>përshtatim</a:t>
            </a:r>
            <a:r>
              <a:rPr lang="en-US" dirty="0"/>
              <a:t> me </a:t>
            </a:r>
            <a:r>
              <a:rPr lang="en-US" dirty="0" err="1"/>
              <a:t>distancën</a:t>
            </a:r>
            <a:r>
              <a:rPr lang="en-US" dirty="0"/>
              <a:t> </a:t>
            </a: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skajeve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jashtme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dy</a:t>
            </a:r>
            <a:r>
              <a:rPr lang="en-US" dirty="0"/>
              <a:t> </a:t>
            </a:r>
            <a:r>
              <a:rPr lang="en-US" dirty="0" err="1"/>
              <a:t>profileve</a:t>
            </a:r>
            <a:r>
              <a:rPr lang="en-US" dirty="0"/>
              <a:t> I.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805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pjesën</a:t>
            </a:r>
            <a:r>
              <a:rPr lang="en-US" dirty="0"/>
              <a:t> e </a:t>
            </a:r>
            <a:r>
              <a:rPr lang="en-US" dirty="0" err="1"/>
              <a:t>poshtme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profileve</a:t>
            </a:r>
            <a:r>
              <a:rPr lang="en-US" dirty="0"/>
              <a:t> I, me </a:t>
            </a:r>
            <a:r>
              <a:rPr lang="en-US" dirty="0" err="1"/>
              <a:t>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komandës</a:t>
            </a:r>
            <a:r>
              <a:rPr lang="en-US" dirty="0"/>
              <a:t> “Sketch” </a:t>
            </a:r>
            <a:r>
              <a:rPr lang="en-US" dirty="0" err="1"/>
              <a:t>vizatojmë</a:t>
            </a:r>
            <a:r>
              <a:rPr lang="en-US" dirty="0"/>
              <a:t> </a:t>
            </a:r>
            <a:r>
              <a:rPr lang="en-US" dirty="0" err="1"/>
              <a:t>hapsira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simulojnë</a:t>
            </a:r>
            <a:r>
              <a:rPr lang="en-US" dirty="0"/>
              <a:t> </a:t>
            </a:r>
            <a:r>
              <a:rPr lang="en-US" dirty="0" err="1"/>
              <a:t>segmente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mbështetet</a:t>
            </a:r>
            <a:r>
              <a:rPr lang="en-US" dirty="0"/>
              <a:t> </a:t>
            </a:r>
            <a:r>
              <a:rPr lang="en-US" dirty="0" err="1"/>
              <a:t>shasia</a:t>
            </a:r>
            <a:r>
              <a:rPr lang="en-US" dirty="0"/>
              <a:t> me </a:t>
            </a:r>
            <a:r>
              <a:rPr lang="en-US" dirty="0" err="1"/>
              <a:t>rrotat</a:t>
            </a:r>
            <a:r>
              <a:rPr lang="en-US" dirty="0"/>
              <a:t>.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bërë</a:t>
            </a:r>
            <a:r>
              <a:rPr lang="en-US" dirty="0"/>
              <a:t> </a:t>
            </a:r>
            <a:r>
              <a:rPr lang="en-US" dirty="0" err="1"/>
              <a:t>ndarjen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sipërfaqe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profilit</a:t>
            </a:r>
            <a:r>
              <a:rPr lang="en-US" dirty="0"/>
              <a:t>, </a:t>
            </a:r>
            <a:r>
              <a:rPr lang="en-US" dirty="0" err="1"/>
              <a:t>përdorim</a:t>
            </a:r>
            <a:r>
              <a:rPr lang="en-US" dirty="0"/>
              <a:t> </a:t>
            </a:r>
            <a:r>
              <a:rPr lang="en-US" dirty="0" err="1"/>
              <a:t>komandën</a:t>
            </a:r>
            <a:r>
              <a:rPr lang="en-US" dirty="0"/>
              <a:t> “Split Line”. </a:t>
            </a:r>
          </a:p>
          <a:p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njejtin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e </a:t>
            </a:r>
            <a:r>
              <a:rPr lang="en-US" dirty="0" err="1"/>
              <a:t>përsëritim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pjesën</a:t>
            </a:r>
            <a:r>
              <a:rPr lang="en-US" dirty="0"/>
              <a:t> e </a:t>
            </a:r>
            <a:r>
              <a:rPr lang="en-US" dirty="0" err="1"/>
              <a:t>përparme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shasië</a:t>
            </a:r>
            <a:r>
              <a:rPr lang="en-US" dirty="0"/>
              <a:t>,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pllaka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mbështetet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kamion</a:t>
            </a:r>
            <a:r>
              <a:rPr lang="en-US" dirty="0"/>
              <a:t>,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pjesën</a:t>
            </a:r>
            <a:r>
              <a:rPr lang="en-US" dirty="0"/>
              <a:t> e </a:t>
            </a:r>
            <a:r>
              <a:rPr lang="en-US" dirty="0" err="1"/>
              <a:t>epërme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profileve</a:t>
            </a:r>
            <a:r>
              <a:rPr lang="en-US" dirty="0"/>
              <a:t> I, </a:t>
            </a:r>
            <a:r>
              <a:rPr lang="en-US" dirty="0" err="1"/>
              <a:t>ku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bëhet</a:t>
            </a:r>
            <a:r>
              <a:rPr lang="en-US" dirty="0"/>
              <a:t> </a:t>
            </a:r>
            <a:r>
              <a:rPr lang="en-US" dirty="0" err="1"/>
              <a:t>ndarja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hapsirën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cilën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veproj</a:t>
            </a:r>
            <a:r>
              <a:rPr lang="en-US" dirty="0"/>
              <a:t> </a:t>
            </a:r>
            <a:r>
              <a:rPr lang="en-US" dirty="0" err="1"/>
              <a:t>ngarkesa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78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Përfundimisht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përfunduar</a:t>
            </a:r>
            <a:r>
              <a:rPr lang="en-US" dirty="0"/>
              <a:t> </a:t>
            </a:r>
            <a:r>
              <a:rPr lang="en-US" dirty="0" err="1"/>
              <a:t>procesin</a:t>
            </a:r>
            <a:r>
              <a:rPr lang="en-US" dirty="0"/>
              <a:t> e </a:t>
            </a:r>
            <a:r>
              <a:rPr lang="en-US" dirty="0" err="1"/>
              <a:t>dizajnimit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shasisë</a:t>
            </a:r>
            <a:r>
              <a:rPr lang="en-US" dirty="0"/>
              <a:t>, </a:t>
            </a:r>
            <a:r>
              <a:rPr lang="en-US" dirty="0" err="1"/>
              <a:t>meqë</a:t>
            </a:r>
            <a:r>
              <a:rPr lang="en-US" dirty="0"/>
              <a:t> e </a:t>
            </a:r>
            <a:r>
              <a:rPr lang="en-US" dirty="0" err="1"/>
              <a:t>gjithë</a:t>
            </a:r>
            <a:r>
              <a:rPr lang="en-US" dirty="0"/>
              <a:t> </a:t>
            </a:r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përbëhet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profile </a:t>
            </a:r>
            <a:r>
              <a:rPr lang="en-US" dirty="0" err="1"/>
              <a:t>zgjedhim</a:t>
            </a:r>
            <a:r>
              <a:rPr lang="en-US" dirty="0"/>
              <a:t> </a:t>
            </a:r>
            <a:r>
              <a:rPr lang="en-US" dirty="0" err="1"/>
              <a:t>materialin</a:t>
            </a:r>
            <a:r>
              <a:rPr lang="en-US" dirty="0"/>
              <a:t> e </a:t>
            </a:r>
            <a:r>
              <a:rPr lang="en-US" dirty="0" err="1"/>
              <a:t>profileve</a:t>
            </a:r>
            <a:r>
              <a:rPr lang="en-US" dirty="0"/>
              <a:t>.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rastin</a:t>
            </a:r>
            <a:r>
              <a:rPr lang="en-US" dirty="0"/>
              <a:t> e </a:t>
            </a:r>
            <a:r>
              <a:rPr lang="en-US" dirty="0" err="1"/>
              <a:t>shasisë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cilën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dizajnuar</a:t>
            </a:r>
            <a:r>
              <a:rPr lang="en-US" dirty="0"/>
              <a:t>, </a:t>
            </a:r>
            <a:r>
              <a:rPr lang="en-US" dirty="0" err="1"/>
              <a:t>modelet</a:t>
            </a:r>
            <a:r>
              <a:rPr lang="en-US" dirty="0"/>
              <a:t> e </a:t>
            </a:r>
            <a:r>
              <a:rPr lang="en-US" dirty="0" err="1"/>
              <a:t>këtyre</a:t>
            </a:r>
            <a:r>
              <a:rPr lang="en-US" dirty="0"/>
              <a:t> </a:t>
            </a:r>
            <a:r>
              <a:rPr lang="en-US" dirty="0" err="1"/>
              <a:t>shasive</a:t>
            </a:r>
            <a:r>
              <a:rPr lang="en-US" dirty="0"/>
              <a:t> </a:t>
            </a:r>
            <a:r>
              <a:rPr lang="en-US" dirty="0" err="1"/>
              <a:t>përdorin</a:t>
            </a:r>
            <a:r>
              <a:rPr lang="en-US" dirty="0"/>
              <a:t> </a:t>
            </a:r>
            <a:r>
              <a:rPr lang="en-US" dirty="0" err="1"/>
              <a:t>çelik</a:t>
            </a:r>
            <a:r>
              <a:rPr lang="en-US" dirty="0"/>
              <a:t> </a:t>
            </a:r>
            <a:r>
              <a:rPr lang="en-US" dirty="0" err="1"/>
              <a:t>konstruktiv</a:t>
            </a:r>
            <a:r>
              <a:rPr lang="en-US" dirty="0"/>
              <a:t> S235JR.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072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kryer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studim</a:t>
            </a:r>
            <a:r>
              <a:rPr lang="en-US" dirty="0"/>
              <a:t> </a:t>
            </a:r>
            <a:r>
              <a:rPr lang="en-US" dirty="0" err="1"/>
              <a:t>simulimi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Solidworks</a:t>
            </a:r>
            <a:r>
              <a:rPr lang="en-US" dirty="0"/>
              <a:t>, </a:t>
            </a:r>
            <a:r>
              <a:rPr lang="en-US" dirty="0" err="1"/>
              <a:t>ndiqen</a:t>
            </a:r>
            <a:r>
              <a:rPr lang="en-US" dirty="0"/>
              <a:t> </a:t>
            </a:r>
            <a:r>
              <a:rPr lang="en-US" dirty="0" err="1"/>
              <a:t>disa</a:t>
            </a:r>
            <a:r>
              <a:rPr lang="en-US" dirty="0"/>
              <a:t> hapa </a:t>
            </a:r>
            <a:r>
              <a:rPr lang="en-US" dirty="0" err="1"/>
              <a:t>thelbësorë</a:t>
            </a:r>
            <a:r>
              <a:rPr lang="en-US" dirty="0"/>
              <a:t>. </a:t>
            </a:r>
            <a:r>
              <a:rPr lang="en-US" dirty="0" err="1"/>
              <a:t>Fillimisht</a:t>
            </a:r>
            <a:r>
              <a:rPr lang="en-US" dirty="0"/>
              <a:t>, </a:t>
            </a:r>
            <a:r>
              <a:rPr lang="en-US" dirty="0" err="1"/>
              <a:t>krijohet</a:t>
            </a:r>
            <a:r>
              <a:rPr lang="en-US" dirty="0"/>
              <a:t>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importohet</a:t>
            </a:r>
            <a:r>
              <a:rPr lang="en-US" dirty="0"/>
              <a:t> </a:t>
            </a:r>
            <a:r>
              <a:rPr lang="en-US" dirty="0" err="1"/>
              <a:t>modeli</a:t>
            </a:r>
            <a:r>
              <a:rPr lang="en-US" dirty="0"/>
              <a:t> 3D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përcaktohen</a:t>
            </a:r>
            <a:r>
              <a:rPr lang="en-US" dirty="0"/>
              <a:t> </a:t>
            </a:r>
            <a:r>
              <a:rPr lang="en-US" dirty="0" err="1"/>
              <a:t>materialet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secilën</a:t>
            </a:r>
            <a:r>
              <a:rPr lang="en-US" dirty="0"/>
              <a:t> </a:t>
            </a:r>
            <a:r>
              <a:rPr lang="en-US" dirty="0" err="1"/>
              <a:t>pjesë</a:t>
            </a:r>
            <a:r>
              <a:rPr lang="en-US" dirty="0"/>
              <a:t>. </a:t>
            </a:r>
            <a:r>
              <a:rPr lang="en-US" dirty="0" err="1"/>
              <a:t>Më</a:t>
            </a:r>
            <a:r>
              <a:rPr lang="en-US" dirty="0"/>
              <a:t> pas, </a:t>
            </a:r>
            <a:r>
              <a:rPr lang="en-US" dirty="0" err="1"/>
              <a:t>aplikohet</a:t>
            </a:r>
            <a:r>
              <a:rPr lang="en-US" dirty="0"/>
              <a:t> </a:t>
            </a:r>
            <a:r>
              <a:rPr lang="en-US" dirty="0" err="1"/>
              <a:t>ngarkesa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kufizimet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përfaqësojnë</a:t>
            </a:r>
            <a:r>
              <a:rPr lang="en-US" dirty="0"/>
              <a:t> </a:t>
            </a:r>
            <a:r>
              <a:rPr lang="en-US" dirty="0" err="1"/>
              <a:t>kushtet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punës</a:t>
            </a:r>
            <a:r>
              <a:rPr lang="en-US" dirty="0"/>
              <a:t>.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vijim</a:t>
            </a:r>
            <a:r>
              <a:rPr lang="en-US" dirty="0"/>
              <a:t>, </a:t>
            </a:r>
            <a:r>
              <a:rPr lang="en-US" dirty="0" err="1"/>
              <a:t>krijohet</a:t>
            </a:r>
            <a:r>
              <a:rPr lang="en-US" dirty="0"/>
              <a:t> </a:t>
            </a:r>
            <a:r>
              <a:rPr lang="en-US" dirty="0" err="1"/>
              <a:t>rrjeta</a:t>
            </a:r>
            <a:r>
              <a:rPr lang="en-US" dirty="0"/>
              <a:t> (mesh)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ndarë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vogla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analizë</a:t>
            </a:r>
            <a:r>
              <a:rPr lang="en-US" dirty="0"/>
              <a:t>. Pas </a:t>
            </a:r>
            <a:r>
              <a:rPr lang="en-US" dirty="0" err="1"/>
              <a:t>kësaj</a:t>
            </a:r>
            <a:r>
              <a:rPr lang="en-US" dirty="0"/>
              <a:t>, </a:t>
            </a:r>
            <a:r>
              <a:rPr lang="en-US" dirty="0" err="1"/>
              <a:t>ekzekutohet</a:t>
            </a:r>
            <a:r>
              <a:rPr lang="en-US" dirty="0"/>
              <a:t> </a:t>
            </a:r>
            <a:r>
              <a:rPr lang="en-US" dirty="0" err="1"/>
              <a:t>simulimi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analizohen</a:t>
            </a:r>
            <a:r>
              <a:rPr lang="en-US" dirty="0"/>
              <a:t> </a:t>
            </a:r>
            <a:r>
              <a:rPr lang="en-US" dirty="0" err="1"/>
              <a:t>rezultatet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vlerësuar</a:t>
            </a:r>
            <a:r>
              <a:rPr lang="en-US" dirty="0"/>
              <a:t> </a:t>
            </a:r>
            <a:r>
              <a:rPr lang="en-US" dirty="0" err="1"/>
              <a:t>deformimin</a:t>
            </a:r>
            <a:r>
              <a:rPr lang="en-US" dirty="0"/>
              <a:t>, </a:t>
            </a:r>
            <a:r>
              <a:rPr lang="en-US" dirty="0" err="1"/>
              <a:t>stresin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faktorët</a:t>
            </a:r>
            <a:r>
              <a:rPr lang="en-US" dirty="0"/>
              <a:t> e </a:t>
            </a:r>
            <a:r>
              <a:rPr lang="en-US" dirty="0" err="1"/>
              <a:t>sigurisë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06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Meqë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e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punuar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Solidworks</a:t>
            </a:r>
            <a:r>
              <a:rPr lang="en-US" dirty="0"/>
              <a:t>, </a:t>
            </a:r>
            <a:r>
              <a:rPr lang="en-US" dirty="0" err="1"/>
              <a:t>nuk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nevojë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importojmë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model,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materialin</a:t>
            </a:r>
            <a:r>
              <a:rPr lang="en-US" dirty="0"/>
              <a:t> e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caktuar</a:t>
            </a:r>
            <a:r>
              <a:rPr lang="en-US" dirty="0"/>
              <a:t> </a:t>
            </a:r>
            <a:r>
              <a:rPr lang="en-US" dirty="0" err="1"/>
              <a:t>paraprakisht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gjitha</a:t>
            </a:r>
            <a:r>
              <a:rPr lang="en-US" dirty="0"/>
              <a:t> </a:t>
            </a:r>
            <a:r>
              <a:rPr lang="en-US" dirty="0" err="1"/>
              <a:t>profilet</a:t>
            </a:r>
            <a:r>
              <a:rPr lang="en-US" dirty="0"/>
              <a:t> </a:t>
            </a:r>
            <a:r>
              <a:rPr lang="en-US" dirty="0" err="1"/>
              <a:t>gjatë</a:t>
            </a:r>
            <a:r>
              <a:rPr lang="en-US" dirty="0"/>
              <a:t> </a:t>
            </a:r>
            <a:r>
              <a:rPr lang="en-US" dirty="0" err="1"/>
              <a:t>dizajnimit</a:t>
            </a:r>
            <a:r>
              <a:rPr lang="en-US" dirty="0"/>
              <a:t>. </a:t>
            </a:r>
            <a:r>
              <a:rPr lang="en-US" dirty="0" err="1"/>
              <a:t>Hapi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parë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këtë</a:t>
            </a:r>
            <a:r>
              <a:rPr lang="en-US" dirty="0"/>
              <a:t> </a:t>
            </a:r>
            <a:r>
              <a:rPr lang="en-US" dirty="0" err="1"/>
              <a:t>analizë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caktimi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llojit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trupave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lidhjet</a:t>
            </a:r>
            <a:r>
              <a:rPr lang="en-US" dirty="0"/>
              <a:t> </a:t>
            </a:r>
            <a:r>
              <a:rPr lang="en-US" dirty="0" err="1"/>
              <a:t>mes</a:t>
            </a:r>
            <a:r>
              <a:rPr lang="en-US" dirty="0"/>
              <a:t> </a:t>
            </a:r>
            <a:r>
              <a:rPr lang="en-US" dirty="0" err="1"/>
              <a:t>tyre</a:t>
            </a:r>
            <a:r>
              <a:rPr lang="en-US" dirty="0"/>
              <a:t>. </a:t>
            </a:r>
            <a:r>
              <a:rPr lang="en-US" dirty="0" err="1"/>
              <a:t>Lloji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trupave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rastin</a:t>
            </a:r>
            <a:r>
              <a:rPr lang="en-US" dirty="0"/>
              <a:t> e </a:t>
            </a:r>
            <a:r>
              <a:rPr lang="en-US" dirty="0" err="1"/>
              <a:t>shasisë</a:t>
            </a:r>
            <a:r>
              <a:rPr lang="en-US" dirty="0"/>
              <a:t> </a:t>
            </a:r>
            <a:r>
              <a:rPr lang="en-US" dirty="0" err="1"/>
              <a:t>janë</a:t>
            </a:r>
            <a:r>
              <a:rPr lang="en-US" dirty="0"/>
              <a:t> </a:t>
            </a:r>
            <a:r>
              <a:rPr lang="en-US" dirty="0" err="1"/>
              <a:t>trupa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ngurtë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cilësojmë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softuer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“</a:t>
            </a:r>
            <a:r>
              <a:rPr lang="en-US" dirty="0" err="1"/>
              <a:t>Solidbody</a:t>
            </a:r>
            <a:r>
              <a:rPr lang="en-US" dirty="0"/>
              <a:t>” </a:t>
            </a:r>
            <a:r>
              <a:rPr lang="en-US" dirty="0" err="1"/>
              <a:t>ndërsa</a:t>
            </a:r>
            <a:r>
              <a:rPr lang="en-US" dirty="0"/>
              <a:t> </a:t>
            </a:r>
            <a:r>
              <a:rPr lang="en-US" dirty="0" err="1"/>
              <a:t>lidhjet</a:t>
            </a:r>
            <a:r>
              <a:rPr lang="en-US" dirty="0"/>
              <a:t> do </a:t>
            </a:r>
            <a:r>
              <a:rPr lang="en-US" dirty="0" err="1"/>
              <a:t>ti</a:t>
            </a:r>
            <a:r>
              <a:rPr lang="en-US" dirty="0"/>
              <a:t> </a:t>
            </a:r>
            <a:r>
              <a:rPr lang="en-US" dirty="0" err="1"/>
              <a:t>cilësojmë</a:t>
            </a:r>
            <a:r>
              <a:rPr lang="en-US" dirty="0"/>
              <a:t> “Bonded”, </a:t>
            </a:r>
            <a:r>
              <a:rPr lang="en-US" dirty="0" err="1"/>
              <a:t>pasi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jetën</a:t>
            </a:r>
            <a:r>
              <a:rPr lang="en-US" dirty="0"/>
              <a:t> </a:t>
            </a:r>
            <a:r>
              <a:rPr lang="en-US" dirty="0" err="1"/>
              <a:t>reale</a:t>
            </a:r>
            <a:r>
              <a:rPr lang="en-US" dirty="0"/>
              <a:t> profile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lidheshin</a:t>
            </a:r>
            <a:r>
              <a:rPr lang="en-US" dirty="0"/>
              <a:t> me </a:t>
            </a:r>
            <a:r>
              <a:rPr lang="en-US" dirty="0" err="1"/>
              <a:t>njëri-tjetrin</a:t>
            </a:r>
            <a:r>
              <a:rPr lang="en-US" dirty="0"/>
              <a:t> me </a:t>
            </a:r>
            <a:r>
              <a:rPr lang="en-US" dirty="0" err="1"/>
              <a:t>saldim</a:t>
            </a:r>
            <a:r>
              <a:rPr lang="en-US" dirty="0"/>
              <a:t>, </a:t>
            </a:r>
            <a:r>
              <a:rPr lang="en-US" dirty="0" err="1"/>
              <a:t>softueri</a:t>
            </a:r>
            <a:r>
              <a:rPr lang="en-US" dirty="0"/>
              <a:t> e </a:t>
            </a:r>
            <a:r>
              <a:rPr lang="en-US" dirty="0" err="1"/>
              <a:t>simulon</a:t>
            </a:r>
            <a:r>
              <a:rPr lang="en-US" dirty="0"/>
              <a:t> </a:t>
            </a:r>
            <a:r>
              <a:rPr lang="en-US" dirty="0" err="1"/>
              <a:t>këtë</a:t>
            </a:r>
            <a:r>
              <a:rPr lang="en-US" dirty="0"/>
              <a:t> </a:t>
            </a:r>
            <a:r>
              <a:rPr lang="en-US" dirty="0" err="1"/>
              <a:t>lloj</a:t>
            </a:r>
            <a:r>
              <a:rPr lang="en-US" dirty="0"/>
              <a:t> </a:t>
            </a:r>
            <a:r>
              <a:rPr lang="en-US" dirty="0" err="1"/>
              <a:t>lidhje</a:t>
            </a:r>
            <a:r>
              <a:rPr lang="en-US" dirty="0"/>
              <a:t> me </a:t>
            </a:r>
            <a:r>
              <a:rPr lang="en-US" dirty="0" err="1"/>
              <a:t>opsionin</a:t>
            </a:r>
            <a:r>
              <a:rPr lang="en-US" dirty="0"/>
              <a:t> “Bonded”.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349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Paraprakisht</a:t>
            </a:r>
            <a:r>
              <a:rPr lang="en-US" dirty="0"/>
              <a:t> </a:t>
            </a:r>
            <a:r>
              <a:rPr lang="en-US" dirty="0" err="1"/>
              <a:t>simulimit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softuer</a:t>
            </a:r>
            <a:r>
              <a:rPr lang="en-US" dirty="0"/>
              <a:t>, </a:t>
            </a:r>
            <a:r>
              <a:rPr lang="en-US" dirty="0" err="1"/>
              <a:t>duhet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caktojmë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vendosen</a:t>
            </a:r>
            <a:r>
              <a:rPr lang="en-US" dirty="0"/>
              <a:t> </a:t>
            </a:r>
            <a:r>
              <a:rPr lang="en-US" dirty="0" err="1"/>
              <a:t>ngarkesat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çernierat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mënyrë</a:t>
            </a:r>
            <a:r>
              <a:rPr lang="en-US" dirty="0"/>
              <a:t> </a:t>
            </a:r>
            <a:r>
              <a:rPr lang="en-US" dirty="0" err="1"/>
              <a:t>grafike</a:t>
            </a:r>
            <a:r>
              <a:rPr lang="en-US" dirty="0"/>
              <a:t>,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pastaj</a:t>
            </a:r>
            <a:r>
              <a:rPr lang="en-US" dirty="0"/>
              <a:t> </a:t>
            </a:r>
            <a:r>
              <a:rPr lang="en-US" dirty="0" err="1"/>
              <a:t>këto</a:t>
            </a:r>
            <a:r>
              <a:rPr lang="en-US" dirty="0"/>
              <a:t> hapa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implementojmë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procesin</a:t>
            </a:r>
            <a:r>
              <a:rPr lang="en-US" dirty="0"/>
              <a:t> e </a:t>
            </a:r>
            <a:r>
              <a:rPr lang="en-US" dirty="0" err="1"/>
              <a:t>analizimit</a:t>
            </a:r>
            <a:r>
              <a:rPr lang="en-US" dirty="0"/>
              <a:t> </a:t>
            </a:r>
            <a:r>
              <a:rPr lang="en-US" dirty="0" err="1"/>
              <a:t>inxhinierike</a:t>
            </a:r>
            <a:r>
              <a:rPr lang="en-US" dirty="0"/>
              <a:t> me </a:t>
            </a:r>
            <a:r>
              <a:rPr lang="en-US" dirty="0" err="1"/>
              <a:t>softuer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75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Paraprakisht</a:t>
            </a:r>
            <a:r>
              <a:rPr lang="en-US" dirty="0"/>
              <a:t> </a:t>
            </a:r>
            <a:r>
              <a:rPr lang="en-US" dirty="0" err="1"/>
              <a:t>simulimit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softuer</a:t>
            </a:r>
            <a:r>
              <a:rPr lang="en-US" dirty="0"/>
              <a:t>, </a:t>
            </a:r>
            <a:r>
              <a:rPr lang="en-US" dirty="0" err="1"/>
              <a:t>duhet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caktojmë</a:t>
            </a:r>
            <a:r>
              <a:rPr lang="en-US" dirty="0"/>
              <a:t> </a:t>
            </a:r>
            <a:r>
              <a:rPr lang="en-US" dirty="0" err="1"/>
              <a:t>ku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vendosen</a:t>
            </a:r>
            <a:r>
              <a:rPr lang="en-US" dirty="0"/>
              <a:t> </a:t>
            </a:r>
            <a:r>
              <a:rPr lang="en-US" dirty="0" err="1"/>
              <a:t>ngarkesat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çernierat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mënyrë</a:t>
            </a:r>
            <a:r>
              <a:rPr lang="en-US" dirty="0"/>
              <a:t> </a:t>
            </a:r>
            <a:r>
              <a:rPr lang="en-US" dirty="0" err="1"/>
              <a:t>grafike</a:t>
            </a:r>
            <a:r>
              <a:rPr lang="en-US" dirty="0"/>
              <a:t>,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pastaj</a:t>
            </a:r>
            <a:r>
              <a:rPr lang="en-US" dirty="0"/>
              <a:t> </a:t>
            </a:r>
            <a:r>
              <a:rPr lang="en-US" dirty="0" err="1"/>
              <a:t>këto</a:t>
            </a:r>
            <a:r>
              <a:rPr lang="en-US" dirty="0"/>
              <a:t> hapa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implementojmë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procesin</a:t>
            </a:r>
            <a:r>
              <a:rPr lang="en-US" dirty="0"/>
              <a:t> e </a:t>
            </a:r>
            <a:r>
              <a:rPr lang="en-US" dirty="0" err="1"/>
              <a:t>analizimit</a:t>
            </a:r>
            <a:r>
              <a:rPr lang="en-US" dirty="0"/>
              <a:t> </a:t>
            </a:r>
            <a:r>
              <a:rPr lang="en-US" dirty="0" err="1"/>
              <a:t>inxhinierike</a:t>
            </a:r>
            <a:r>
              <a:rPr lang="en-US" dirty="0"/>
              <a:t> me </a:t>
            </a:r>
            <a:r>
              <a:rPr lang="en-US" dirty="0" err="1"/>
              <a:t>softuer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6719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Pasi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caktuar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vizatime</a:t>
            </a:r>
            <a:r>
              <a:rPr lang="en-US" dirty="0"/>
              <a:t> </a:t>
            </a:r>
            <a:r>
              <a:rPr lang="en-US" dirty="0" err="1"/>
              <a:t>pozitat</a:t>
            </a:r>
            <a:r>
              <a:rPr lang="en-US" dirty="0"/>
              <a:t> e </a:t>
            </a:r>
            <a:r>
              <a:rPr lang="en-US" dirty="0" err="1"/>
              <a:t>vendosjeve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ngarkesave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çernierave</a:t>
            </a:r>
            <a:r>
              <a:rPr lang="en-US" dirty="0"/>
              <a:t>,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softuer</a:t>
            </a:r>
            <a:r>
              <a:rPr lang="en-US" dirty="0"/>
              <a:t> me </a:t>
            </a:r>
            <a:r>
              <a:rPr lang="en-US" dirty="0" err="1"/>
              <a:t>rradhë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caktimin</a:t>
            </a:r>
            <a:r>
              <a:rPr lang="en-US" dirty="0"/>
              <a:t> e </a:t>
            </a:r>
            <a:r>
              <a:rPr lang="en-US" dirty="0" err="1"/>
              <a:t>çernierave</a:t>
            </a:r>
            <a:r>
              <a:rPr lang="en-US" dirty="0"/>
              <a:t>. </a:t>
            </a:r>
            <a:r>
              <a:rPr lang="en-US" dirty="0" err="1"/>
              <a:t>Sikurse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figurët</a:t>
            </a:r>
            <a:r>
              <a:rPr lang="en-US" dirty="0"/>
              <a:t> e </a:t>
            </a:r>
            <a:r>
              <a:rPr lang="en-US" dirty="0" err="1"/>
              <a:t>treguara</a:t>
            </a:r>
            <a:r>
              <a:rPr lang="en-US" dirty="0"/>
              <a:t>,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3d </a:t>
            </a:r>
            <a:r>
              <a:rPr lang="en-US" dirty="0" err="1"/>
              <a:t>gjatë</a:t>
            </a:r>
            <a:r>
              <a:rPr lang="en-US" dirty="0"/>
              <a:t> </a:t>
            </a:r>
            <a:r>
              <a:rPr lang="en-US" dirty="0" err="1"/>
              <a:t>simulimin</a:t>
            </a:r>
            <a:r>
              <a:rPr lang="en-US" dirty="0"/>
              <a:t> </a:t>
            </a:r>
            <a:r>
              <a:rPr lang="en-US" dirty="0" err="1"/>
              <a:t>zgjedhim</a:t>
            </a:r>
            <a:r>
              <a:rPr lang="en-US" dirty="0"/>
              <a:t> </a:t>
            </a:r>
            <a:r>
              <a:rPr lang="en-US" dirty="0" err="1"/>
              <a:t>pllakën</a:t>
            </a:r>
            <a:r>
              <a:rPr lang="en-US" dirty="0"/>
              <a:t> e </a:t>
            </a:r>
            <a:r>
              <a:rPr lang="en-US" dirty="0" err="1"/>
              <a:t>përparme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hapsirat</a:t>
            </a:r>
            <a:r>
              <a:rPr lang="en-US" dirty="0"/>
              <a:t> </a:t>
            </a:r>
            <a:r>
              <a:rPr lang="en-US" dirty="0" err="1"/>
              <a:t>mbështetëse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rrotat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pika </a:t>
            </a:r>
            <a:r>
              <a:rPr lang="en-US" dirty="0" err="1"/>
              <a:t>mbajtëse</a:t>
            </a:r>
            <a:r>
              <a:rPr lang="en-US" dirty="0"/>
              <a:t>, me </a:t>
            </a:r>
            <a:r>
              <a:rPr lang="en-US" dirty="0" err="1"/>
              <a:t>llojin</a:t>
            </a:r>
            <a:r>
              <a:rPr lang="en-US" dirty="0"/>
              <a:t> e </a:t>
            </a:r>
            <a:r>
              <a:rPr lang="en-US" dirty="0" err="1"/>
              <a:t>çernierave</a:t>
            </a:r>
            <a:r>
              <a:rPr lang="en-US" dirty="0"/>
              <a:t> “Fixed Geometry”.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581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Softuerët</a:t>
            </a:r>
            <a:r>
              <a:rPr lang="en-US" dirty="0"/>
              <a:t> </a:t>
            </a:r>
            <a:r>
              <a:rPr lang="en-US" dirty="0" err="1"/>
              <a:t>modernë</a:t>
            </a:r>
            <a:r>
              <a:rPr lang="en-US" dirty="0"/>
              <a:t>,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gjenerojnë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dokument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quajtur</a:t>
            </a:r>
            <a:r>
              <a:rPr lang="en-US" dirty="0"/>
              <a:t> “</a:t>
            </a:r>
            <a:r>
              <a:rPr lang="en-US" dirty="0" err="1"/>
              <a:t>Raport</a:t>
            </a:r>
            <a:r>
              <a:rPr lang="en-US" dirty="0"/>
              <a:t>”,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cili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një</a:t>
            </a:r>
            <a:r>
              <a:rPr lang="en-US" dirty="0"/>
              <a:t> </a:t>
            </a:r>
            <a:r>
              <a:rPr lang="en-US" dirty="0" err="1"/>
              <a:t>reportim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informatave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studimit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analizave</a:t>
            </a:r>
            <a:r>
              <a:rPr lang="en-US" dirty="0"/>
              <a:t> </a:t>
            </a:r>
            <a:r>
              <a:rPr lang="en-US" dirty="0" err="1"/>
              <a:t>inxhinierike</a:t>
            </a:r>
            <a:r>
              <a:rPr lang="en-US" dirty="0"/>
              <a:t>.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këtë</a:t>
            </a:r>
            <a:r>
              <a:rPr lang="en-US" dirty="0"/>
              <a:t> </a:t>
            </a:r>
            <a:r>
              <a:rPr lang="en-US" dirty="0" err="1"/>
              <a:t>dokument</a:t>
            </a:r>
            <a:r>
              <a:rPr lang="en-US" dirty="0"/>
              <a:t> </a:t>
            </a:r>
            <a:r>
              <a:rPr lang="en-US" dirty="0" err="1"/>
              <a:t>përmbahen</a:t>
            </a:r>
            <a:r>
              <a:rPr lang="en-US" dirty="0"/>
              <a:t> </a:t>
            </a:r>
            <a:r>
              <a:rPr lang="en-US" dirty="0" err="1"/>
              <a:t>informatat</a:t>
            </a:r>
            <a:r>
              <a:rPr lang="en-US" dirty="0"/>
              <a:t> e </a:t>
            </a:r>
            <a:r>
              <a:rPr lang="en-US" dirty="0" err="1"/>
              <a:t>plota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gjitha</a:t>
            </a:r>
            <a:r>
              <a:rPr lang="en-US" dirty="0"/>
              <a:t> </a:t>
            </a:r>
            <a:r>
              <a:rPr lang="en-US" dirty="0" err="1"/>
              <a:t>komponentet</a:t>
            </a:r>
            <a:r>
              <a:rPr lang="en-US" dirty="0"/>
              <a:t> e </a:t>
            </a:r>
            <a:r>
              <a:rPr lang="en-US" dirty="0" err="1"/>
              <a:t>dizajnuara</a:t>
            </a:r>
            <a:r>
              <a:rPr lang="en-US" dirty="0"/>
              <a:t>, </a:t>
            </a:r>
            <a:r>
              <a:rPr lang="en-US" dirty="0" err="1"/>
              <a:t>tabelat</a:t>
            </a:r>
            <a:r>
              <a:rPr lang="en-US" dirty="0"/>
              <a:t> e </a:t>
            </a:r>
            <a:r>
              <a:rPr lang="en-US" dirty="0" err="1"/>
              <a:t>materialeve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pjesëve</a:t>
            </a:r>
            <a:r>
              <a:rPr lang="en-US" dirty="0"/>
              <a:t>,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lidhjeve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pjesëve</a:t>
            </a:r>
            <a:r>
              <a:rPr lang="en-US" dirty="0"/>
              <a:t> me </a:t>
            </a:r>
            <a:r>
              <a:rPr lang="en-US" dirty="0" err="1"/>
              <a:t>njëra</a:t>
            </a:r>
            <a:r>
              <a:rPr lang="en-US" dirty="0"/>
              <a:t> </a:t>
            </a:r>
            <a:r>
              <a:rPr lang="en-US" dirty="0" err="1"/>
              <a:t>tjetrën</a:t>
            </a:r>
            <a:r>
              <a:rPr lang="en-US" dirty="0"/>
              <a:t>,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informatave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çernierave</a:t>
            </a:r>
            <a:r>
              <a:rPr lang="en-US" dirty="0"/>
              <a:t>, </a:t>
            </a:r>
            <a:r>
              <a:rPr lang="en-US" dirty="0" err="1"/>
              <a:t>ngarkesave</a:t>
            </a:r>
            <a:r>
              <a:rPr lang="en-US" dirty="0"/>
              <a:t>,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vlerave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rrjetëzimit</a:t>
            </a:r>
            <a:r>
              <a:rPr lang="en-US" dirty="0"/>
              <a:t>,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përfundimisht</a:t>
            </a:r>
            <a:r>
              <a:rPr lang="en-US" dirty="0"/>
              <a:t> </a:t>
            </a:r>
            <a:r>
              <a:rPr lang="en-US" dirty="0" err="1"/>
              <a:t>tabelat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</a:t>
            </a:r>
            <a:r>
              <a:rPr lang="en-US" dirty="0" err="1"/>
              <a:t>paraqesin</a:t>
            </a:r>
            <a:r>
              <a:rPr lang="en-US" dirty="0"/>
              <a:t> </a:t>
            </a:r>
            <a:r>
              <a:rPr lang="en-US" dirty="0" err="1"/>
              <a:t>rezultatet</a:t>
            </a:r>
            <a:r>
              <a:rPr lang="en-US" dirty="0"/>
              <a:t> e </a:t>
            </a:r>
            <a:r>
              <a:rPr lang="en-US" dirty="0" err="1"/>
              <a:t>fituara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analizës</a:t>
            </a:r>
            <a:r>
              <a:rPr lang="en-US" dirty="0"/>
              <a:t>. </a:t>
            </a:r>
            <a:r>
              <a:rPr lang="en-US" dirty="0" err="1"/>
              <a:t>Shembull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dhënë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tabelat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çernierat</a:t>
            </a:r>
            <a:r>
              <a:rPr lang="en-US" dirty="0"/>
              <a:t> e </a:t>
            </a:r>
            <a:r>
              <a:rPr lang="en-US" dirty="0" err="1"/>
              <a:t>vendosura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ngarkesave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aplikuara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172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 </a:t>
            </a:r>
            <a:r>
              <a:rPr lang="en-US" dirty="0" err="1"/>
              <a:t>caktimit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çernierave</a:t>
            </a:r>
            <a:r>
              <a:rPr lang="en-US" dirty="0"/>
              <a:t>, </a:t>
            </a:r>
            <a:r>
              <a:rPr lang="en-US" dirty="0" err="1"/>
              <a:t>fillojmë</a:t>
            </a:r>
            <a:r>
              <a:rPr lang="en-US" dirty="0"/>
              <a:t> me </a:t>
            </a:r>
            <a:r>
              <a:rPr lang="en-US" dirty="0" err="1"/>
              <a:t>caktimin</a:t>
            </a:r>
            <a:r>
              <a:rPr lang="en-US" dirty="0"/>
              <a:t> e </a:t>
            </a:r>
            <a:r>
              <a:rPr lang="en-US" dirty="0" err="1"/>
              <a:t>ngarkesave</a:t>
            </a:r>
            <a:r>
              <a:rPr lang="en-US" dirty="0"/>
              <a:t>. </a:t>
            </a:r>
            <a:r>
              <a:rPr lang="en-US" dirty="0" err="1"/>
              <a:t>Ngarkesa</a:t>
            </a:r>
            <a:r>
              <a:rPr lang="en-US" dirty="0"/>
              <a:t> e </a:t>
            </a:r>
            <a:r>
              <a:rPr lang="en-US" dirty="0" err="1"/>
              <a:t>parë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jetë</a:t>
            </a:r>
            <a:r>
              <a:rPr lang="en-US" dirty="0"/>
              <a:t> </a:t>
            </a:r>
            <a:r>
              <a:rPr lang="en-US" dirty="0" err="1"/>
              <a:t>graviteti</a:t>
            </a:r>
            <a:r>
              <a:rPr lang="en-US" dirty="0"/>
              <a:t>, e </a:t>
            </a:r>
            <a:r>
              <a:rPr lang="en-US" dirty="0" err="1"/>
              <a:t>cila</a:t>
            </a:r>
            <a:r>
              <a:rPr lang="en-US" dirty="0"/>
              <a:t> </a:t>
            </a:r>
            <a:r>
              <a:rPr lang="en-US" dirty="0" err="1"/>
              <a:t>paraqet</a:t>
            </a:r>
            <a:r>
              <a:rPr lang="en-US" dirty="0"/>
              <a:t> </a:t>
            </a:r>
            <a:r>
              <a:rPr lang="en-US" dirty="0" err="1"/>
              <a:t>ngarkesën</a:t>
            </a:r>
            <a:r>
              <a:rPr lang="en-US" dirty="0"/>
              <a:t> e </a:t>
            </a:r>
            <a:r>
              <a:rPr lang="en-US" dirty="0" err="1"/>
              <a:t>vetë</a:t>
            </a:r>
            <a:r>
              <a:rPr lang="en-US" dirty="0"/>
              <a:t> </a:t>
            </a:r>
            <a:r>
              <a:rPr lang="en-US" dirty="0" err="1"/>
              <a:t>strukturës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shkaktuar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pesha</a:t>
            </a:r>
            <a:r>
              <a:rPr lang="en-US" dirty="0"/>
              <a:t> e </a:t>
            </a:r>
            <a:r>
              <a:rPr lang="en-US" dirty="0" err="1"/>
              <a:t>profileve</a:t>
            </a:r>
            <a:r>
              <a:rPr lang="en-US" dirty="0"/>
              <a:t>..</a:t>
            </a:r>
          </a:p>
          <a:p>
            <a:r>
              <a:rPr lang="en-US" dirty="0" err="1"/>
              <a:t>Ngarkesa</a:t>
            </a:r>
            <a:r>
              <a:rPr lang="en-US" dirty="0"/>
              <a:t> e </a:t>
            </a:r>
            <a:r>
              <a:rPr lang="en-US" dirty="0" err="1"/>
              <a:t>dytë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jeta</a:t>
            </a:r>
            <a:r>
              <a:rPr lang="en-US" dirty="0"/>
              <a:t> </a:t>
            </a:r>
            <a:r>
              <a:rPr lang="en-US" dirty="0" err="1"/>
              <a:t>ngarkesa</a:t>
            </a:r>
            <a:r>
              <a:rPr lang="en-US" dirty="0"/>
              <a:t> e </a:t>
            </a:r>
            <a:r>
              <a:rPr lang="en-US" dirty="0" err="1"/>
              <a:t>kontejnerëve</a:t>
            </a:r>
            <a:r>
              <a:rPr lang="en-US" dirty="0"/>
              <a:t>, </a:t>
            </a:r>
            <a:r>
              <a:rPr lang="en-US" dirty="0" err="1"/>
              <a:t>sipas</a:t>
            </a:r>
            <a:r>
              <a:rPr lang="en-US" dirty="0"/>
              <a:t> </a:t>
            </a:r>
            <a:r>
              <a:rPr lang="en-US" dirty="0" err="1"/>
              <a:t>figurave</a:t>
            </a:r>
            <a:r>
              <a:rPr lang="en-US" dirty="0"/>
              <a:t>, </a:t>
            </a:r>
            <a:r>
              <a:rPr lang="en-US" dirty="0" err="1"/>
              <a:t>pesha</a:t>
            </a:r>
            <a:r>
              <a:rPr lang="en-US" dirty="0"/>
              <a:t> e </a:t>
            </a:r>
            <a:r>
              <a:rPr lang="en-US" dirty="0" err="1"/>
              <a:t>kontejnerëve</a:t>
            </a:r>
            <a:r>
              <a:rPr lang="en-US" dirty="0"/>
              <a:t> </a:t>
            </a:r>
            <a:r>
              <a:rPr lang="en-US" dirty="0" err="1"/>
              <a:t>vepronë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sipërfaqet</a:t>
            </a:r>
            <a:r>
              <a:rPr lang="en-US" dirty="0"/>
              <a:t> e </a:t>
            </a:r>
            <a:r>
              <a:rPr lang="en-US" dirty="0" err="1"/>
              <a:t>epërme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profileve</a:t>
            </a:r>
            <a:r>
              <a:rPr lang="en-US" dirty="0"/>
              <a:t> I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profileve</a:t>
            </a:r>
            <a:r>
              <a:rPr lang="en-US" dirty="0"/>
              <a:t> </a:t>
            </a:r>
            <a:r>
              <a:rPr lang="en-US" dirty="0" err="1"/>
              <a:t>katrorë</a:t>
            </a:r>
            <a:r>
              <a:rPr lang="en-US" dirty="0"/>
              <a:t>. Masa </a:t>
            </a:r>
            <a:r>
              <a:rPr lang="en-US" dirty="0" err="1"/>
              <a:t>mesatare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cilat</a:t>
            </a:r>
            <a:r>
              <a:rPr lang="en-US" dirty="0"/>
              <a:t> e </a:t>
            </a:r>
            <a:r>
              <a:rPr lang="en-US" dirty="0" err="1"/>
              <a:t>bartin</a:t>
            </a:r>
            <a:r>
              <a:rPr lang="en-US" dirty="0"/>
              <a:t> </a:t>
            </a:r>
            <a:r>
              <a:rPr lang="en-US" dirty="0" err="1"/>
              <a:t>këto</a:t>
            </a:r>
            <a:r>
              <a:rPr lang="en-US" dirty="0"/>
              <a:t> </a:t>
            </a:r>
            <a:r>
              <a:rPr lang="en-US" dirty="0" err="1"/>
              <a:t>shasisë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25-28ton6 , </a:t>
            </a:r>
            <a:r>
              <a:rPr lang="en-US" dirty="0" err="1"/>
              <a:t>pra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ngarkesën</a:t>
            </a:r>
            <a:r>
              <a:rPr lang="en-US" dirty="0"/>
              <a:t> e </a:t>
            </a:r>
            <a:r>
              <a:rPr lang="en-US" dirty="0" err="1"/>
              <a:t>peshës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kontejnerit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rastin</a:t>
            </a:r>
            <a:r>
              <a:rPr lang="en-US" dirty="0"/>
              <a:t> </a:t>
            </a:r>
            <a:r>
              <a:rPr lang="en-US" dirty="0" err="1"/>
              <a:t>tonë</a:t>
            </a:r>
            <a:r>
              <a:rPr lang="en-US" dirty="0"/>
              <a:t> do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marrim</a:t>
            </a:r>
            <a:r>
              <a:rPr lang="en-US" dirty="0"/>
              <a:t> </a:t>
            </a:r>
            <a:r>
              <a:rPr lang="en-US" dirty="0" err="1"/>
              <a:t>vlerën</a:t>
            </a:r>
            <a:r>
              <a:rPr lang="en-US" dirty="0"/>
              <a:t> 𝑮 = 𝟐𝟓𝟎𝟎𝟎𝒌𝒈 ∙ 𝟗, 𝟖𝟏 𝒎 𝒔 𝟐 = 𝟐𝟒𝟓𝟐𝟓𝟎N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469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Pasi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vendosur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gjitha</a:t>
            </a:r>
            <a:r>
              <a:rPr lang="en-US" dirty="0"/>
              <a:t> </a:t>
            </a:r>
            <a:r>
              <a:rPr lang="en-US" dirty="0" err="1"/>
              <a:t>ngarkesat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çernierat</a:t>
            </a:r>
            <a:r>
              <a:rPr lang="en-US" dirty="0"/>
              <a:t> </a:t>
            </a:r>
            <a:r>
              <a:rPr lang="en-US" dirty="0" err="1"/>
              <a:t>bazuar</a:t>
            </a:r>
            <a:r>
              <a:rPr lang="en-US" dirty="0"/>
              <a:t> </a:t>
            </a:r>
            <a:r>
              <a:rPr lang="en-US" dirty="0" err="1"/>
              <a:t>nga</a:t>
            </a:r>
            <a:r>
              <a:rPr lang="en-US" dirty="0"/>
              <a:t> </a:t>
            </a:r>
            <a:r>
              <a:rPr lang="en-US" dirty="0" err="1"/>
              <a:t>skema</a:t>
            </a:r>
            <a:r>
              <a:rPr lang="en-US" dirty="0"/>
              <a:t> e </a:t>
            </a:r>
            <a:r>
              <a:rPr lang="en-US" dirty="0" err="1"/>
              <a:t>mëparshme</a:t>
            </a:r>
            <a:r>
              <a:rPr lang="en-US" dirty="0"/>
              <a:t>, </a:t>
            </a:r>
            <a:r>
              <a:rPr lang="en-US" dirty="0" err="1"/>
              <a:t>hapi</a:t>
            </a:r>
            <a:r>
              <a:rPr lang="en-US" dirty="0"/>
              <a:t> </a:t>
            </a:r>
            <a:r>
              <a:rPr lang="en-US" dirty="0" err="1"/>
              <a:t>tjetër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analizat</a:t>
            </a:r>
            <a:r>
              <a:rPr lang="en-US" dirty="0"/>
              <a:t> me </a:t>
            </a:r>
            <a:r>
              <a:rPr lang="en-US" dirty="0" err="1"/>
              <a:t>softuer</a:t>
            </a:r>
            <a:r>
              <a:rPr lang="en-US" dirty="0"/>
              <a:t> </a:t>
            </a:r>
            <a:r>
              <a:rPr lang="en-US" dirty="0" err="1"/>
              <a:t>është</a:t>
            </a:r>
            <a:r>
              <a:rPr lang="en-US" dirty="0"/>
              <a:t> </a:t>
            </a:r>
            <a:r>
              <a:rPr lang="en-US" dirty="0" err="1"/>
              <a:t>rrjetëzimi</a:t>
            </a:r>
            <a:r>
              <a:rPr lang="en-US" dirty="0"/>
              <a:t> me </a:t>
            </a:r>
            <a:r>
              <a:rPr lang="en-US" dirty="0" err="1"/>
              <a:t>komandën</a:t>
            </a:r>
            <a:r>
              <a:rPr lang="en-US" dirty="0"/>
              <a:t> “Mesh”. </a:t>
            </a:r>
            <a:r>
              <a:rPr lang="en-US" dirty="0" err="1"/>
              <a:t>Rrjetëzimi</a:t>
            </a:r>
            <a:r>
              <a:rPr lang="en-US" dirty="0"/>
              <a:t> </a:t>
            </a:r>
            <a:r>
              <a:rPr lang="en-US" dirty="0" err="1"/>
              <a:t>përdoret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analizën</a:t>
            </a:r>
            <a:r>
              <a:rPr lang="en-US" dirty="0"/>
              <a:t> e </a:t>
            </a:r>
            <a:r>
              <a:rPr lang="en-US" dirty="0" err="1"/>
              <a:t>elementeve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fundme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ta </a:t>
            </a:r>
            <a:r>
              <a:rPr lang="en-US" dirty="0" err="1"/>
              <a:t>ndarë</a:t>
            </a:r>
            <a:r>
              <a:rPr lang="en-US" dirty="0"/>
              <a:t> </a:t>
            </a:r>
            <a:r>
              <a:rPr lang="en-US" dirty="0" err="1"/>
              <a:t>modelin</a:t>
            </a:r>
            <a:r>
              <a:rPr lang="en-US" dirty="0"/>
              <a:t> </a:t>
            </a:r>
            <a:r>
              <a:rPr lang="en-US" dirty="0" err="1"/>
              <a:t>kompleks</a:t>
            </a:r>
            <a:r>
              <a:rPr lang="en-US" dirty="0"/>
              <a:t> 3D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vogla</a:t>
            </a:r>
            <a:r>
              <a:rPr lang="en-US" dirty="0"/>
              <a:t> </a:t>
            </a:r>
            <a:r>
              <a:rPr lang="en-US" dirty="0" err="1"/>
              <a:t>më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thjeshta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tetrahedron </a:t>
            </a:r>
            <a:r>
              <a:rPr lang="en-US" dirty="0" err="1"/>
              <a:t>ose</a:t>
            </a:r>
            <a:r>
              <a:rPr lang="en-US" dirty="0"/>
              <a:t> </a:t>
            </a:r>
            <a:r>
              <a:rPr lang="en-US" dirty="0" err="1"/>
              <a:t>heksahedron</a:t>
            </a:r>
            <a:r>
              <a:rPr lang="en-US" dirty="0"/>
              <a:t>. Ky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mundëson</a:t>
            </a:r>
            <a:r>
              <a:rPr lang="en-US" dirty="0"/>
              <a:t> </a:t>
            </a:r>
            <a:r>
              <a:rPr lang="en-US" dirty="0" err="1"/>
              <a:t>që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parashikoj</a:t>
            </a:r>
            <a:r>
              <a:rPr lang="en-US" dirty="0"/>
              <a:t> </a:t>
            </a:r>
            <a:r>
              <a:rPr lang="en-US" dirty="0" err="1"/>
              <a:t>sjelljen</a:t>
            </a:r>
            <a:r>
              <a:rPr lang="en-US" dirty="0"/>
              <a:t> e </a:t>
            </a:r>
            <a:r>
              <a:rPr lang="en-US" dirty="0" err="1"/>
              <a:t>strukturës</a:t>
            </a:r>
            <a:r>
              <a:rPr lang="en-US" dirty="0"/>
              <a:t> me </a:t>
            </a:r>
            <a:r>
              <a:rPr lang="en-US" dirty="0" err="1"/>
              <a:t>anë</a:t>
            </a:r>
            <a:r>
              <a:rPr lang="en-US" dirty="0"/>
              <a:t> ta </a:t>
            </a:r>
            <a:r>
              <a:rPr lang="en-US" dirty="0" err="1"/>
              <a:t>analizave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pjesëve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ndara</a:t>
            </a:r>
            <a:r>
              <a:rPr lang="en-US" dirty="0"/>
              <a:t>.</a:t>
            </a:r>
          </a:p>
          <a:p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krijimin</a:t>
            </a:r>
            <a:r>
              <a:rPr lang="en-US" dirty="0"/>
              <a:t> e </a:t>
            </a:r>
            <a:r>
              <a:rPr lang="en-US" dirty="0" err="1"/>
              <a:t>rrjetës</a:t>
            </a:r>
            <a:r>
              <a:rPr lang="en-US" dirty="0"/>
              <a:t>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caktohen</a:t>
            </a:r>
            <a:r>
              <a:rPr lang="en-US" dirty="0"/>
              <a:t> </a:t>
            </a:r>
            <a:r>
              <a:rPr lang="en-US" dirty="0" err="1"/>
              <a:t>parametra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ndryshëm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lloji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rrjetës</a:t>
            </a:r>
            <a:r>
              <a:rPr lang="en-US" dirty="0"/>
              <a:t>, </a:t>
            </a:r>
            <a:r>
              <a:rPr lang="en-US" dirty="0" err="1"/>
              <a:t>madhësitë</a:t>
            </a:r>
            <a:r>
              <a:rPr lang="en-US" dirty="0"/>
              <a:t> e </a:t>
            </a:r>
            <a:r>
              <a:rPr lang="en-US" dirty="0" err="1"/>
              <a:t>elementeve</a:t>
            </a:r>
            <a:r>
              <a:rPr lang="en-US" dirty="0"/>
              <a:t>, </a:t>
            </a:r>
            <a:r>
              <a:rPr lang="en-US" dirty="0" err="1"/>
              <a:t>numri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brinjëve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elementeve</a:t>
            </a:r>
            <a:r>
              <a:rPr lang="en-US" dirty="0"/>
              <a:t>, </a:t>
            </a:r>
            <a:r>
              <a:rPr lang="en-US" dirty="0" err="1"/>
              <a:t>dendësia</a:t>
            </a:r>
            <a:r>
              <a:rPr lang="en-US" dirty="0"/>
              <a:t> e </a:t>
            </a:r>
            <a:r>
              <a:rPr lang="en-US" dirty="0" err="1"/>
              <a:t>elementeve</a:t>
            </a:r>
            <a:r>
              <a:rPr lang="en-US" dirty="0"/>
              <a:t> </a:t>
            </a:r>
            <a:r>
              <a:rPr lang="en-US" dirty="0" err="1"/>
              <a:t>etj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589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Pasi </a:t>
            </a:r>
            <a:r>
              <a:rPr lang="en-US" dirty="0" err="1"/>
              <a:t>kemi</a:t>
            </a:r>
            <a:r>
              <a:rPr lang="en-US" dirty="0"/>
              <a:t> </a:t>
            </a:r>
            <a:r>
              <a:rPr lang="en-US" dirty="0" err="1"/>
              <a:t>përfunduar</a:t>
            </a:r>
            <a:r>
              <a:rPr lang="en-US" dirty="0"/>
              <a:t> </a:t>
            </a:r>
            <a:r>
              <a:rPr lang="en-US" dirty="0" err="1"/>
              <a:t>këto</a:t>
            </a:r>
            <a:r>
              <a:rPr lang="en-US" dirty="0"/>
              <a:t> hapa, </a:t>
            </a:r>
            <a:r>
              <a:rPr lang="en-US" dirty="0" err="1"/>
              <a:t>vazhdojmë</a:t>
            </a:r>
            <a:r>
              <a:rPr lang="en-US" dirty="0"/>
              <a:t> me </a:t>
            </a:r>
            <a:r>
              <a:rPr lang="en-US" dirty="0" err="1"/>
              <a:t>nxjerrjen</a:t>
            </a:r>
            <a:r>
              <a:rPr lang="en-US" dirty="0"/>
              <a:t> e </a:t>
            </a:r>
            <a:r>
              <a:rPr lang="en-US" dirty="0" err="1"/>
              <a:t>rezultateve</a:t>
            </a:r>
            <a:r>
              <a:rPr lang="en-US" dirty="0"/>
              <a:t> me </a:t>
            </a:r>
            <a:r>
              <a:rPr lang="en-US" dirty="0" err="1"/>
              <a:t>anë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komandës</a:t>
            </a:r>
            <a:r>
              <a:rPr lang="en-US" dirty="0"/>
              <a:t> “Run Study”.</a:t>
            </a:r>
          </a:p>
          <a:p>
            <a:r>
              <a:rPr lang="en-US" dirty="0" err="1"/>
              <a:t>Softueri</a:t>
            </a:r>
            <a:r>
              <a:rPr lang="en-US" dirty="0"/>
              <a:t> </a:t>
            </a:r>
            <a:r>
              <a:rPr lang="en-US" dirty="0" err="1"/>
              <a:t>automatikish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nxjerr</a:t>
            </a:r>
            <a:r>
              <a:rPr lang="en-US" dirty="0"/>
              <a:t> </a:t>
            </a:r>
            <a:r>
              <a:rPr lang="en-US" dirty="0" err="1"/>
              <a:t>këto</a:t>
            </a:r>
            <a:r>
              <a:rPr lang="en-US" dirty="0"/>
              <a:t> </a:t>
            </a:r>
            <a:r>
              <a:rPr lang="en-US" dirty="0" err="1"/>
              <a:t>tre</a:t>
            </a:r>
            <a:r>
              <a:rPr lang="en-US" dirty="0"/>
              <a:t> </a:t>
            </a:r>
            <a:r>
              <a:rPr lang="en-US" dirty="0" err="1"/>
              <a:t>lloje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rezultateve</a:t>
            </a:r>
            <a:r>
              <a:rPr lang="en-US" dirty="0"/>
              <a:t>: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sforcimet</a:t>
            </a:r>
            <a:r>
              <a:rPr lang="en-US" dirty="0"/>
              <a:t>, </a:t>
            </a:r>
            <a:r>
              <a:rPr lang="en-US" dirty="0" err="1"/>
              <a:t>zhvendosjet</a:t>
            </a:r>
            <a:r>
              <a:rPr lang="en-US" dirty="0"/>
              <a:t> </a:t>
            </a:r>
            <a:r>
              <a:rPr lang="en-US" dirty="0" err="1"/>
              <a:t>dhe</a:t>
            </a:r>
            <a:r>
              <a:rPr lang="en-US" dirty="0"/>
              <a:t> </a:t>
            </a:r>
            <a:r>
              <a:rPr lang="en-US" dirty="0" err="1"/>
              <a:t>deformimet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907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Nga </a:t>
            </a:r>
            <a:r>
              <a:rPr lang="en-US" dirty="0" err="1"/>
              <a:t>dokumenti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dhënave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analizës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softuerit</a:t>
            </a:r>
            <a:r>
              <a:rPr lang="en-US" dirty="0"/>
              <a:t>, </a:t>
            </a:r>
            <a:r>
              <a:rPr lang="en-US" dirty="0" err="1"/>
              <a:t>mund</a:t>
            </a:r>
            <a:r>
              <a:rPr lang="en-US" dirty="0"/>
              <a:t> </a:t>
            </a:r>
            <a:r>
              <a:rPr lang="en-US" dirty="0" err="1"/>
              <a:t>të</a:t>
            </a:r>
            <a:r>
              <a:rPr lang="en-US" dirty="0"/>
              <a:t> </a:t>
            </a:r>
            <a:r>
              <a:rPr lang="en-US" dirty="0" err="1"/>
              <a:t>nxjerrim</a:t>
            </a:r>
            <a:r>
              <a:rPr lang="en-US" dirty="0"/>
              <a:t> </a:t>
            </a:r>
            <a:r>
              <a:rPr lang="en-US" dirty="0" err="1"/>
              <a:t>tabelat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rezultatet</a:t>
            </a:r>
            <a:r>
              <a:rPr lang="en-US" dirty="0"/>
              <a:t> e </a:t>
            </a:r>
            <a:r>
              <a:rPr lang="en-US" dirty="0" err="1"/>
              <a:t>treguara</a:t>
            </a:r>
            <a:r>
              <a:rPr lang="en-US" dirty="0"/>
              <a:t> </a:t>
            </a:r>
            <a:r>
              <a:rPr lang="en-US" dirty="0" err="1"/>
              <a:t>në</a:t>
            </a:r>
            <a:r>
              <a:rPr lang="en-US" dirty="0"/>
              <a:t> </a:t>
            </a:r>
            <a:r>
              <a:rPr lang="en-US" dirty="0" err="1"/>
              <a:t>figurën</a:t>
            </a:r>
            <a:r>
              <a:rPr lang="en-US" dirty="0"/>
              <a:t> e </a:t>
            </a:r>
            <a:r>
              <a:rPr lang="en-US" dirty="0" err="1"/>
              <a:t>mëparshme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3C7598-1A37-4BE3-AC6A-72F9FC478DA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812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54854-1AD7-1B3C-51F6-42EBEE0FF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EF49DE-6335-530B-74E1-DE6B37D66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D68D9-169B-3AE1-867D-AE7A46D30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938E3-512B-8E1B-0DBE-2E4F2DE3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F0A26-A80D-84E1-2401-7570FA68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12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C0EC-2496-7B93-DD76-E2E8ECBD9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F4779-4954-A7DA-BA6D-E596C1649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763CF-2363-A623-84C0-D8312C2C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92240-BDEF-6C67-82A8-415D3EC3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93D65-4FB0-E236-1A9D-E4FC59E6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769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2AE5-B8A8-B75B-80B8-B203E0CE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ED491B-3977-22FD-E40D-9CD132D047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347A0-078C-AC5B-CD3A-01ED16B80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9075A-9530-2EB1-6AB8-5542C816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E0904-0EE6-A64C-D21F-D51DDC24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9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AF192-098B-39D5-4676-09D85B3FE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CF5D0-A028-9DA4-12FE-5E9ACCBDE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C869F-FEA1-9A5A-49DC-F085609E6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05851-9FC3-FAF0-4395-654940E42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9AF5B-AE1D-794F-364F-CB0BA09E7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0EF98-F416-5445-10CA-AE97C67C7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1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C299-6C90-12C9-BCFA-FAD3C32CB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32A7D-ADC0-8AC6-6D97-025B0A823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81B42-5776-01C0-4B1D-EDB9B786C0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C528B4-5C41-CB71-7E4D-703D31316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51121-AE53-BC92-B476-6522D1410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DB9427-FB08-BBA4-50C9-C596D1657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79DFDD-DD88-D70F-814D-827621C8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2F000-0F5B-836C-ED10-4AC1962FE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26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FE78-0689-4AEB-6EC0-A45A5590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2A6179-D416-E671-6EF8-040FB77F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83FA1-7097-DEBD-D87B-9C5332500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59FCE7-F591-0256-A73F-DFC1BE2E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32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1D9F94-6D82-5D1D-ACE5-3FB4AFC5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8F29E2-AF1F-D5C8-3850-8A61842D4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F73D1-8AE7-1D26-6107-CEAEB8DA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8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EC581-5FB7-CC96-EE4F-82C3926AE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FBD98-714A-6225-2138-AB315355E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E6297-65A1-F097-0C56-278E573AD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82FB0-27B3-7C4F-B7B2-39BA10D54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A1B9C-D45A-F82F-4391-D9A49B638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7889AC-A630-0EEF-2B1D-3D67B80A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926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E849-4F6C-07D2-E1ED-216E324B2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F033DF-E2D0-3DF2-4598-0EF6CD110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E6ACE-2E5E-C06D-EE1E-ADCFA2EB03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A0BAB-61DB-F22F-C39D-94CB055E8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CBE8E-0CA0-95DD-9107-E465223FD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DB919-AB59-7A51-1389-ADB12815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1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31DB-158C-875F-C162-01EEAE89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B2624-7A47-A00B-C61D-8AEC8C3F4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7B5C9-01DC-CB66-C045-E7023C4A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60F68-0F9E-0489-A838-22A439E2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7E89F-EFC3-0057-880F-B6496779E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730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A70984-8BA4-C25C-22C9-E01EC5476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22440-644C-A6C0-F63B-B3CAEB57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38CDB-1B83-869C-67A5-931B89AE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36BE0-9B7A-545E-2DA8-C607E2795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9DF26-FC2E-772F-6D09-B67577AB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61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8000"/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harpenSoften amount="11000"/>
                    </a14:imgEffect>
                    <a14:imgEffect>
                      <a14:colorTemperature colorTemp="6573"/>
                    </a14:imgEffect>
                    <a14:imgEffect>
                      <a14:saturation sat="201000"/>
                    </a14:imgEffect>
                    <a14:imgEffect>
                      <a14:brightnessContrast bright="19000" contrast="-11000"/>
                    </a14:imgEffect>
                  </a14:imgLayer>
                </a14:imgProps>
              </a:ext>
            </a:extLst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5DAE6-E441-50F6-BAF3-55D5DEC81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8E019-6816-4624-2976-2031F77A0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3EB35-3E55-EBCC-6720-287B35AD0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C208F2-88B3-42CF-AABC-39E722E01334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4E0FD-437E-DDBC-4B30-C5AC4460F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9C566-69EF-76BA-BE08-BBDBFA91D8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9B330D-FCDA-4818-8E43-8E5B7CD18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2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microsoft.com/office/2007/relationships/hdphoto" Target="../media/hdphoto2.wdp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3" Type="http://schemas.openxmlformats.org/officeDocument/2006/relationships/image" Target="../media/image44.jpeg"/><Relationship Id="rId21" Type="http://schemas.openxmlformats.org/officeDocument/2006/relationships/image" Target="../media/image59.png"/><Relationship Id="rId7" Type="http://schemas.openxmlformats.org/officeDocument/2006/relationships/image" Target="../media/image48.png"/><Relationship Id="rId12" Type="http://schemas.microsoft.com/office/2007/relationships/hdphoto" Target="../media/hdphoto2.wdp"/><Relationship Id="rId17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11" Type="http://schemas.openxmlformats.org/officeDocument/2006/relationships/image" Target="../media/image33.png"/><Relationship Id="rId5" Type="http://schemas.openxmlformats.org/officeDocument/2006/relationships/image" Target="../media/image46.png"/><Relationship Id="rId15" Type="http://schemas.openxmlformats.org/officeDocument/2006/relationships/image" Target="../media/image53.png"/><Relationship Id="rId10" Type="http://schemas.openxmlformats.org/officeDocument/2006/relationships/image" Target="../media/image32.png"/><Relationship Id="rId19" Type="http://schemas.openxmlformats.org/officeDocument/2006/relationships/image" Target="../media/image57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4.jpe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10" Type="http://schemas.openxmlformats.org/officeDocument/2006/relationships/image" Target="../media/image67.jpe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F689-2E0F-ED2C-CD03-79355E8A3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21636"/>
            <a:ext cx="9144000" cy="23876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  <a:t>PUNIM SEMINARIK </a:t>
            </a:r>
            <a:b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</a:br>
            <a:r>
              <a:rPr lang="en-US" sz="2800" b="1" dirty="0" err="1">
                <a:latin typeface="Swis721 BdOul BT" panose="04020705020B03040203" pitchFamily="82" charset="0"/>
                <a:ea typeface="Adobe Gothic Std B" panose="020B0800000000000000" pitchFamily="34" charset="-128"/>
              </a:rPr>
              <a:t>Lënda</a:t>
            </a:r>
            <a: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  <a:t>: </a:t>
            </a:r>
            <a:r>
              <a:rPr lang="en-US" sz="2800" b="1" dirty="0" err="1">
                <a:latin typeface="Swis721 BdOul BT" panose="04020705020B03040203" pitchFamily="82" charset="0"/>
                <a:ea typeface="Adobe Gothic Std B" panose="020B0800000000000000" pitchFamily="34" charset="-128"/>
              </a:rPr>
              <a:t>Projektimi</a:t>
            </a:r>
            <a: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  <a:t> </a:t>
            </a:r>
            <a:r>
              <a:rPr lang="en-US" sz="2800" b="1" dirty="0" err="1">
                <a:latin typeface="Swis721 BdOul BT" panose="04020705020B03040203" pitchFamily="82" charset="0"/>
                <a:ea typeface="Adobe Gothic Std B" panose="020B0800000000000000" pitchFamily="34" charset="-128"/>
              </a:rPr>
              <a:t>i</a:t>
            </a:r>
            <a: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  <a:t> </a:t>
            </a:r>
            <a:r>
              <a:rPr lang="en-US" sz="2800" b="1" dirty="0" err="1">
                <a:latin typeface="Swis721 BdOul BT" panose="04020705020B03040203" pitchFamily="82" charset="0"/>
                <a:ea typeface="Adobe Gothic Std B" panose="020B0800000000000000" pitchFamily="34" charset="-128"/>
              </a:rPr>
              <a:t>konstruksioneve</a:t>
            </a:r>
            <a: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  <a:t> </a:t>
            </a:r>
            <a:r>
              <a:rPr lang="en-US" sz="2800" b="1" dirty="0" err="1">
                <a:latin typeface="Swis721 BdOul BT" panose="04020705020B03040203" pitchFamily="82" charset="0"/>
                <a:ea typeface="Adobe Gothic Std B" panose="020B0800000000000000" pitchFamily="34" charset="-128"/>
              </a:rPr>
              <a:t>të</a:t>
            </a:r>
            <a: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  <a:t> </a:t>
            </a:r>
            <a:r>
              <a:rPr lang="en-US" sz="2800" b="1" dirty="0" err="1">
                <a:latin typeface="Swis721 BdOul BT" panose="04020705020B03040203" pitchFamily="82" charset="0"/>
                <a:ea typeface="Adobe Gothic Std B" panose="020B0800000000000000" pitchFamily="34" charset="-128"/>
              </a:rPr>
              <a:t>lehta</a:t>
            </a:r>
            <a:b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</a:br>
            <a:b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</a:br>
            <a:r>
              <a:rPr lang="en-US" sz="1800" b="1" dirty="0" err="1"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Titulli</a:t>
            </a:r>
            <a:r>
              <a:rPr lang="en-US" sz="1800" b="1" dirty="0"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</a:rPr>
              <a:t>:</a:t>
            </a:r>
            <a:br>
              <a:rPr lang="en-US" sz="1800" b="1" dirty="0"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ngarkesave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statike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konstruksionin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kapriatë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shasisë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rimorkios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të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kontejnerëve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en-US" sz="2800" b="1" dirty="0">
                <a:latin typeface="Swis721 BdOul BT" panose="04020705020B03040203" pitchFamily="82" charset="0"/>
                <a:ea typeface="Adobe Gothic Std B" panose="020B0800000000000000" pitchFamily="34" charset="-128"/>
              </a:rPr>
            </a:br>
            <a:endParaRPr lang="en-US" sz="2800" b="1" dirty="0">
              <a:latin typeface="Swis721 BdOul BT" panose="04020705020B03040203" pitchFamily="82" charset="0"/>
              <a:ea typeface="Adobe Gothic Std B" panose="020B0800000000000000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8C716-6D1B-DA0D-27E0-CDEDA757EC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383" y="4681808"/>
            <a:ext cx="11240309" cy="1996126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Profesori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							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Dr. Sc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Beqir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Hamidi 						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Bsc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Flamur Sejdiu</a:t>
            </a:r>
          </a:p>
          <a:p>
            <a:pPr algn="l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Prishtinë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</a:t>
            </a:r>
          </a:p>
        </p:txBody>
      </p:sp>
      <p:pic>
        <p:nvPicPr>
          <p:cNvPr id="4" name="Picture 3" descr="A red and white star in a black background&#10;&#10;Description automatically generated">
            <a:extLst>
              <a:ext uri="{FF2B5EF4-FFF2-40B4-BE49-F238E27FC236}">
                <a16:creationId xmlns:a16="http://schemas.microsoft.com/office/drawing/2014/main" id="{5C552AA6-AE6F-2E6C-0C5F-3FB02FFC9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25" y="124299"/>
            <a:ext cx="1999449" cy="19961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0DFFD2-1362-CD7D-0E3D-AC614644996E}"/>
              </a:ext>
            </a:extLst>
          </p:cNvPr>
          <p:cNvSpPr txBox="1"/>
          <p:nvPr/>
        </p:nvSpPr>
        <p:spPr>
          <a:xfrm>
            <a:off x="2153474" y="115500"/>
            <a:ext cx="95732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UNIVERSITETI I PRISHTINËS “HASAN PRISHTINA” - FAKULTETI I INXHINIERISË MEKANIKE – DIA</a:t>
            </a:r>
          </a:p>
        </p:txBody>
      </p:sp>
    </p:spTree>
    <p:extLst>
      <p:ext uri="{BB962C8B-B14F-4D97-AF65-F5344CB8AC3E}">
        <p14:creationId xmlns:p14="http://schemas.microsoft.com/office/powerpoint/2010/main" val="2079437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E0F8-CD92-82B4-8F67-E76B28E1C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HYRJE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4B20F-5E18-6697-ECDC-226E905BC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8996"/>
            <a:ext cx="10515600" cy="3997967"/>
          </a:xfrm>
        </p:spPr>
        <p:txBody>
          <a:bodyPr/>
          <a:lstStyle/>
          <a:p>
            <a:r>
              <a:rPr lang="en-US" dirty="0" err="1"/>
              <a:t>Çka</a:t>
            </a:r>
            <a:r>
              <a:rPr lang="en-US" dirty="0"/>
              <a:t> </a:t>
            </a:r>
            <a:r>
              <a:rPr lang="en-US" dirty="0" err="1"/>
              <a:t>paraqet</a:t>
            </a:r>
            <a:r>
              <a:rPr lang="en-US" dirty="0"/>
              <a:t> </a:t>
            </a:r>
            <a:r>
              <a:rPr lang="en-US" dirty="0" err="1"/>
              <a:t>dizajni</a:t>
            </a:r>
            <a:r>
              <a:rPr lang="en-US" dirty="0"/>
              <a:t> </a:t>
            </a:r>
            <a:r>
              <a:rPr lang="en-US" dirty="0" err="1"/>
              <a:t>inxhinierik</a:t>
            </a:r>
            <a:r>
              <a:rPr lang="en-US" dirty="0"/>
              <a:t>?</a:t>
            </a:r>
          </a:p>
          <a:p>
            <a:r>
              <a:rPr lang="en-US" dirty="0" err="1"/>
              <a:t>Rëndësia</a:t>
            </a:r>
            <a:r>
              <a:rPr lang="en-US" dirty="0"/>
              <a:t> e </a:t>
            </a:r>
            <a:r>
              <a:rPr lang="en-US" dirty="0" err="1"/>
              <a:t>disiplinës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dizajnit</a:t>
            </a:r>
            <a:r>
              <a:rPr lang="en-US" dirty="0"/>
              <a:t>,</a:t>
            </a:r>
          </a:p>
          <a:p>
            <a:r>
              <a:rPr lang="en-US" dirty="0" err="1"/>
              <a:t>Zhvillimi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teknologjisë</a:t>
            </a:r>
            <a:r>
              <a:rPr lang="en-US" dirty="0"/>
              <a:t>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projektimit</a:t>
            </a:r>
            <a:endParaRPr lang="en-US" dirty="0"/>
          </a:p>
          <a:p>
            <a:r>
              <a:rPr lang="en-US" dirty="0" err="1"/>
              <a:t>Perspektivat</a:t>
            </a:r>
            <a:r>
              <a:rPr lang="en-US" dirty="0"/>
              <a:t> e </a:t>
            </a:r>
            <a:r>
              <a:rPr lang="en-US" dirty="0" err="1"/>
              <a:t>së</a:t>
            </a:r>
            <a:r>
              <a:rPr lang="en-US" dirty="0"/>
              <a:t> </a:t>
            </a:r>
            <a:r>
              <a:rPr lang="en-US" dirty="0" err="1"/>
              <a:t>ardhmes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projektimin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973648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2B55B-054E-FCE6-38FF-6DF959C32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7F410-1142-BAB2-93E5-8700B62DA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Modeli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zgjedhur</a:t>
            </a:r>
            <a:r>
              <a:rPr lang="en-US" dirty="0"/>
              <a:t> </a:t>
            </a:r>
            <a:r>
              <a:rPr lang="en-US" dirty="0" err="1"/>
              <a:t>për</a:t>
            </a:r>
            <a:r>
              <a:rPr lang="en-US" dirty="0"/>
              <a:t> </a:t>
            </a:r>
            <a:r>
              <a:rPr lang="en-US" dirty="0" err="1"/>
              <a:t>dizajnim</a:t>
            </a:r>
            <a:r>
              <a:rPr lang="en-US" dirty="0"/>
              <a:t>,</a:t>
            </a:r>
          </a:p>
          <a:p>
            <a:r>
              <a:rPr lang="en-US" dirty="0" err="1"/>
              <a:t>Synimi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këtij</a:t>
            </a:r>
            <a:r>
              <a:rPr lang="en-US" dirty="0"/>
              <a:t> </a:t>
            </a:r>
            <a:r>
              <a:rPr lang="en-US" dirty="0" err="1"/>
              <a:t>studimi</a:t>
            </a:r>
            <a:r>
              <a:rPr lang="en-US" dirty="0"/>
              <a:t>,</a:t>
            </a:r>
          </a:p>
          <a:p>
            <a:r>
              <a:rPr lang="en-US" dirty="0" err="1"/>
              <a:t>Softueri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përdorur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D5666-360E-2521-890E-AE6D4FD19E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6574"/>
            <a:ext cx="5788426" cy="40011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24B6A16-B488-9AB7-0C18-167B5FDBDB47}"/>
              </a:ext>
            </a:extLst>
          </p:cNvPr>
          <p:cNvSpPr txBox="1"/>
          <p:nvPr/>
        </p:nvSpPr>
        <p:spPr>
          <a:xfrm>
            <a:off x="5943024" y="5768313"/>
            <a:ext cx="609437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1. Vizatimi teknik i shasisë së rimorkios për kontejner</a:t>
            </a:r>
            <a:endParaRPr lang="en-US" sz="1200" i="1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980754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D3A6-2C0B-25A3-5CB6-2113174D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D3775-C6DF-9688-A2C0-5EAD8244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C0744F-4678-4FC0-750F-4FD149D94F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43" y="2101579"/>
            <a:ext cx="5573684" cy="2988425"/>
          </a:xfrm>
          <a:prstGeom prst="rect">
            <a:avLst/>
          </a:prstGeom>
        </p:spPr>
      </p:pic>
      <p:pic>
        <p:nvPicPr>
          <p:cNvPr id="6" name="Picture 5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0668DFD6-69AF-31E2-B093-7FF6820E593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374" y="2098519"/>
            <a:ext cx="5571490" cy="29914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488C83-1119-AC28-0F0B-29984A60EAF3}"/>
              </a:ext>
            </a:extLst>
          </p:cNvPr>
          <p:cNvSpPr txBox="1"/>
          <p:nvPr/>
        </p:nvSpPr>
        <p:spPr>
          <a:xfrm>
            <a:off x="324363" y="5075316"/>
            <a:ext cx="556126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2. Vizatimi bazë me komandën “Sketch”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C23413-2894-4488-E7D3-554FF1B1BABD}"/>
              </a:ext>
            </a:extLst>
          </p:cNvPr>
          <p:cNvSpPr txBox="1"/>
          <p:nvPr/>
        </p:nvSpPr>
        <p:spPr>
          <a:xfrm>
            <a:off x="6044930" y="5096604"/>
            <a:ext cx="6094378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3. Vendosja e profileve të trarëve kryesorë me komandën “Structural members”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9776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28FCE-8029-7DBA-4423-480E1206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9B56-3B45-B109-9783-868DB461A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C3447C-E773-65E7-8770-921FEC191A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7" y="2098519"/>
            <a:ext cx="5731510" cy="30778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1AEABB-E7EC-60D4-95D6-7133128BD64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375" y="2098519"/>
            <a:ext cx="5731510" cy="30835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3BB6965-5253-154E-9D6B-4FFC486B2F84}"/>
              </a:ext>
            </a:extLst>
          </p:cNvPr>
          <p:cNvSpPr txBox="1"/>
          <p:nvPr/>
        </p:nvSpPr>
        <p:spPr>
          <a:xfrm>
            <a:off x="-27317" y="5176364"/>
            <a:ext cx="609437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4. “Sketch” në anën e profilit për prerje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55C8D1-9E5A-8E8D-385C-7AD9D7265E1C}"/>
              </a:ext>
            </a:extLst>
          </p:cNvPr>
          <p:cNvSpPr txBox="1"/>
          <p:nvPr/>
        </p:nvSpPr>
        <p:spPr>
          <a:xfrm>
            <a:off x="6117645" y="5180453"/>
            <a:ext cx="610897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5. Komanda “Cut-Extrude”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5879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AFB7B-CA60-99AB-0D89-E8CF12431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D81B0-8E3C-A9BF-7B34-B29BBF6A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F27FD0-49CA-CEA3-F990-F4CA76C745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7" y="2098519"/>
            <a:ext cx="5731510" cy="3071495"/>
          </a:xfrm>
          <a:prstGeom prst="rect">
            <a:avLst/>
          </a:prstGeom>
        </p:spPr>
      </p:pic>
      <p:pic>
        <p:nvPicPr>
          <p:cNvPr id="4" name="Picture 3" descr="A computer screen shot of a design&#10;&#10;Description automatically generated">
            <a:extLst>
              <a:ext uri="{FF2B5EF4-FFF2-40B4-BE49-F238E27FC236}">
                <a16:creationId xmlns:a16="http://schemas.microsoft.com/office/drawing/2014/main" id="{DB39922A-FACD-25FB-9F55-44C91146EB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373" y="2101694"/>
            <a:ext cx="5731510" cy="30746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1B6D81-B2D3-6D0B-EA84-EC224C464F2F}"/>
              </a:ext>
            </a:extLst>
          </p:cNvPr>
          <p:cNvSpPr txBox="1"/>
          <p:nvPr/>
        </p:nvSpPr>
        <p:spPr>
          <a:xfrm>
            <a:off x="-37045" y="5145359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6. Rezultati i komandës “Cut-Extrude”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3C792-6AF7-5735-2A7C-8948F599BFBA}"/>
              </a:ext>
            </a:extLst>
          </p:cNvPr>
          <p:cNvSpPr txBox="1"/>
          <p:nvPr/>
        </p:nvSpPr>
        <p:spPr>
          <a:xfrm>
            <a:off x="6115213" y="5150584"/>
            <a:ext cx="6113834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7. Përmirësimi i formës së profilit me komandën “3D Sketch” dhe “Sweep”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77889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498F-ADDA-F961-F38C-DBF28E72E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AC57-6FA2-B358-A767-D3DBDE4B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B1E28C-81B0-3C1F-23F6-A4D2A7CB2D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7" y="2101694"/>
            <a:ext cx="5731510" cy="3082290"/>
          </a:xfrm>
          <a:prstGeom prst="rect">
            <a:avLst/>
          </a:prstGeom>
        </p:spPr>
      </p:pic>
      <p:pic>
        <p:nvPicPr>
          <p:cNvPr id="7" name="Picture 6" descr="A computer screen shot of a drawing&#10;&#10;Description automatically generated">
            <a:extLst>
              <a:ext uri="{FF2B5EF4-FFF2-40B4-BE49-F238E27FC236}">
                <a16:creationId xmlns:a16="http://schemas.microsoft.com/office/drawing/2014/main" id="{ABEC0A30-5515-C5B9-3AC5-84334C5DCA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375" y="2107409"/>
            <a:ext cx="5731510" cy="30765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57D873F-A056-4B6E-15C3-20F15820E550}"/>
              </a:ext>
            </a:extLst>
          </p:cNvPr>
          <p:cNvSpPr txBox="1"/>
          <p:nvPr/>
        </p:nvSpPr>
        <p:spPr>
          <a:xfrm>
            <a:off x="-37046" y="5180695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8. Pasqyrimi i komponentës me anë të komandës “Mirror”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AAE4A8-EC75-17F1-7FA5-3898FCF6E773}"/>
              </a:ext>
            </a:extLst>
          </p:cNvPr>
          <p:cNvSpPr txBox="1"/>
          <p:nvPr/>
        </p:nvSpPr>
        <p:spPr>
          <a:xfrm>
            <a:off x="6115214" y="5180695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9. Vizatimi për profilet ekuilibruese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3483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F8641-F500-18DC-5CE7-57CA5F5B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1665-56B3-2C23-2460-E9F9BEF2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E08A4-7A6F-112E-EF25-F1FE9D6D48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5" y="2093960"/>
            <a:ext cx="5731510" cy="30867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2BF506-D820-9C5E-15CF-1DB4615AD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375" y="2093960"/>
            <a:ext cx="5731510" cy="30803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37A50E-46E6-0133-9855-00E279749A3A}"/>
              </a:ext>
            </a:extLst>
          </p:cNvPr>
          <p:cNvSpPr txBox="1"/>
          <p:nvPr/>
        </p:nvSpPr>
        <p:spPr>
          <a:xfrm>
            <a:off x="-17834" y="5180787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10. Vendosja e profileve katrorë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52A245-DB84-A39E-0518-D9A30D742C6B}"/>
              </a:ext>
            </a:extLst>
          </p:cNvPr>
          <p:cNvSpPr txBox="1"/>
          <p:nvPr/>
        </p:nvSpPr>
        <p:spPr>
          <a:xfrm>
            <a:off x="6120077" y="5187639"/>
            <a:ext cx="6104106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11. Vizatimi i pozitave të profileve mes trarëve kryesorë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42348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4C695-69E5-5378-9DEF-36953433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C3F28-C747-4E97-A366-B49769035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4BBA02-C876-FDFF-DDD7-5B51EAE48E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5" y="2104079"/>
            <a:ext cx="5731510" cy="30835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559EDB-0D9B-9F50-23D2-218D702566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377" y="2118684"/>
            <a:ext cx="5731510" cy="30689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2202FB-1359-0EA5-100D-121B4C1FB784}"/>
              </a:ext>
            </a:extLst>
          </p:cNvPr>
          <p:cNvSpPr txBox="1"/>
          <p:nvPr/>
        </p:nvSpPr>
        <p:spPr>
          <a:xfrm>
            <a:off x="-41910" y="5187639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12. Profilet C të vendosura mes trarëve kryesorë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F88FE-6601-E5CC-19C8-E5443410B76B}"/>
              </a:ext>
            </a:extLst>
          </p:cNvPr>
          <p:cNvSpPr txBox="1"/>
          <p:nvPr/>
        </p:nvSpPr>
        <p:spPr>
          <a:xfrm>
            <a:off x="6120078" y="5208927"/>
            <a:ext cx="6113834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13. Komanda “Trim/Extend” për të rregulluar intereferencat e profileve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08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A4A36-B961-07C9-9815-CF3D3D219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FD32-8B21-D981-F0AD-8A9F57493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578B42-6D67-E63E-F787-7C9C27C1F6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209" y="2586995"/>
            <a:ext cx="4709160" cy="25234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4B95985-07D0-100B-A8EA-AA27FD893C5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636" y="2588265"/>
            <a:ext cx="4688840" cy="2522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47C344-3935-A74E-B7FD-4218746F464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8596" y="2589535"/>
            <a:ext cx="4681220" cy="2520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6E24AE-1B61-AFAA-F3DD-060D2C247E21}"/>
              </a:ext>
            </a:extLst>
          </p:cNvPr>
          <p:cNvSpPr txBox="1"/>
          <p:nvPr/>
        </p:nvSpPr>
        <p:spPr>
          <a:xfrm>
            <a:off x="0" y="542853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14. Vendosja e profileve përforcuese me komandat “3D Sketch”, “Structural Members” dhe “ Trim/Extend”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9645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99A3F-E931-FAAF-D93E-8CC8821B2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E3CC-7870-D8EF-BA94-824B6C6D7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1CF00B-978C-CE4D-0145-C395A421602B}"/>
              </a:ext>
            </a:extLst>
          </p:cNvPr>
          <p:cNvSpPr txBox="1"/>
          <p:nvPr/>
        </p:nvSpPr>
        <p:spPr>
          <a:xfrm>
            <a:off x="0" y="542853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15. Krijimi i “Sketch”, profileve me “Structural Members” dhe komanda “Trim/Extrude”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BF0C10-7CFE-12F3-6B9A-0E5D5B9519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659" y="2465710"/>
            <a:ext cx="4925695" cy="2644775"/>
          </a:xfrm>
          <a:prstGeom prst="rect">
            <a:avLst/>
          </a:prstGeom>
        </p:spPr>
      </p:pic>
      <p:pic>
        <p:nvPicPr>
          <p:cNvPr id="6" name="Picture 5" descr="A computer screen shot of a design&#10;&#10;Description automatically generated">
            <a:extLst>
              <a:ext uri="{FF2B5EF4-FFF2-40B4-BE49-F238E27FC236}">
                <a16:creationId xmlns:a16="http://schemas.microsoft.com/office/drawing/2014/main" id="{E7981352-DEA7-4F43-AA10-94F2A904019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532" y="2454915"/>
            <a:ext cx="4905375" cy="2636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B3E00E-EBD0-2415-4F6F-AB10697538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0124" y="2463170"/>
            <a:ext cx="4925695" cy="2647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892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E11F1-CCA4-50B9-A0F0-8A6463DB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0D28-75C5-481D-FDBC-38F19AB9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A0B9D-AF87-AA37-DCAD-27D65EEC5CBB}"/>
              </a:ext>
            </a:extLst>
          </p:cNvPr>
          <p:cNvSpPr txBox="1"/>
          <p:nvPr/>
        </p:nvSpPr>
        <p:spPr>
          <a:xfrm>
            <a:off x="-41910" y="5187639"/>
            <a:ext cx="6113834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16. Vizatimi i prerjes tërthore të pllakës me komandën “Sketch"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F30A49-0325-7105-4C90-B18B4CA5154F}"/>
              </a:ext>
            </a:extLst>
          </p:cNvPr>
          <p:cNvSpPr txBox="1"/>
          <p:nvPr/>
        </p:nvSpPr>
        <p:spPr>
          <a:xfrm>
            <a:off x="6120078" y="5208927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17. Zgjerimi i pllakës me anë to komandës “Extrude”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47CAA0-09B9-924A-52A1-F30D9A2C1F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14" y="2109794"/>
            <a:ext cx="5731510" cy="30778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B6AC16-BFFB-5F8A-B069-8ABFF86D99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40" y="2109794"/>
            <a:ext cx="5731510" cy="307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328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6AE08-C5B1-BCE3-F154-CDEC8CAA3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8E360-9C68-AF37-732B-558129EF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8E172-9482-7475-24EA-C5AEF8F4D55F}"/>
              </a:ext>
            </a:extLst>
          </p:cNvPr>
          <p:cNvSpPr txBox="1"/>
          <p:nvPr/>
        </p:nvSpPr>
        <p:spPr>
          <a:xfrm>
            <a:off x="-41910" y="5187639"/>
            <a:ext cx="6113834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18. Vizatimi i hapsirave të pikave të mbështetjes në rrota dhe ndarja e vijave me komandën “Split Line”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17B013-6803-0AD1-764D-5F15DA3A1401}"/>
              </a:ext>
            </a:extLst>
          </p:cNvPr>
          <p:cNvSpPr txBox="1"/>
          <p:nvPr/>
        </p:nvSpPr>
        <p:spPr>
          <a:xfrm>
            <a:off x="6120078" y="5208927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19. Vizatimi në pllakën mbajtëse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5" name="Picture 4" descr="A computer screen shot of a machine&#10;&#10;Description automatically generated">
            <a:extLst>
              <a:ext uri="{FF2B5EF4-FFF2-40B4-BE49-F238E27FC236}">
                <a16:creationId xmlns:a16="http://schemas.microsoft.com/office/drawing/2014/main" id="{C4FB7759-DDEA-BCC0-8EFC-BF51ADE653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50" y="2109793"/>
            <a:ext cx="5731510" cy="3077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8CEA18-22C9-BF83-06A8-207DE55B5F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42" y="2107253"/>
            <a:ext cx="5731510" cy="308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6294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7309F-BBCB-7188-F336-5CAF81A00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6A9A-B0CC-3EB8-21E6-51185351A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4D8AD3-2C7E-781A-DEB5-70BA1C73DB55}"/>
              </a:ext>
            </a:extLst>
          </p:cNvPr>
          <p:cNvSpPr txBox="1"/>
          <p:nvPr/>
        </p:nvSpPr>
        <p:spPr>
          <a:xfrm>
            <a:off x="0" y="539587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20. Ndarja e vijave të “Sketch” me komandën “Split Line”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9B7629-91E1-E00F-019D-291DB00D53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71" y="2108039"/>
            <a:ext cx="5731510" cy="3068955"/>
          </a:xfrm>
          <a:prstGeom prst="rect">
            <a:avLst/>
          </a:prstGeom>
        </p:spPr>
      </p:pic>
      <p:pic>
        <p:nvPicPr>
          <p:cNvPr id="4" name="Picture 3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95290816-A5AA-EAEA-EFFB-489190C7A5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779" y="2108039"/>
            <a:ext cx="5684555" cy="305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9156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A371-28CC-9358-7F5C-C70D2A8FD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3BFBD-71AB-6A94-FE8B-613738B2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2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dizajnimit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EA966-7A01-F87D-747E-8D3886B7A450}"/>
              </a:ext>
            </a:extLst>
          </p:cNvPr>
          <p:cNvSpPr txBox="1"/>
          <p:nvPr/>
        </p:nvSpPr>
        <p:spPr>
          <a:xfrm>
            <a:off x="0" y="539587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21. Zgjedhja e materialit për profilet e çelikta të shasisë së rimorkios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77AD2-C5CA-EDD2-A2FC-0A902F64E8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69" y="2082803"/>
            <a:ext cx="5731510" cy="30803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75F35F-AAA6-1F33-13EA-69F79BA356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779" y="2085343"/>
            <a:ext cx="5731510" cy="3077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1928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901DD-5070-0EA5-BED5-6049889B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C6DF-D2A2-928D-F9B3-E997E9B6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9CE9A-0222-5D8F-9816-65F068614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Synimi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analizave</a:t>
            </a:r>
            <a:r>
              <a:rPr lang="en-US" dirty="0"/>
              <a:t> </a:t>
            </a:r>
            <a:r>
              <a:rPr lang="en-US" dirty="0" err="1"/>
              <a:t>inxhinierike</a:t>
            </a:r>
            <a:endParaRPr lang="en-US" dirty="0"/>
          </a:p>
          <a:p>
            <a:r>
              <a:rPr lang="en-US" dirty="0" err="1"/>
              <a:t>Softueri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përdorur</a:t>
            </a:r>
            <a:r>
              <a:rPr lang="en-US" dirty="0"/>
              <a:t>,</a:t>
            </a:r>
          </a:p>
          <a:p>
            <a:r>
              <a:rPr lang="en-US" dirty="0" err="1"/>
              <a:t>Hapat</a:t>
            </a:r>
            <a:r>
              <a:rPr lang="en-US" dirty="0"/>
              <a:t> e </a:t>
            </a:r>
            <a:r>
              <a:rPr lang="en-US" dirty="0" err="1"/>
              <a:t>simulimit</a:t>
            </a:r>
            <a:r>
              <a:rPr lang="en-US" dirty="0"/>
              <a:t>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2D0EA-BDF4-9D0A-DE7D-EBC18F907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16574"/>
            <a:ext cx="5788426" cy="40011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C9DA6B-36C7-717A-AE41-BB617B3C91EC}"/>
              </a:ext>
            </a:extLst>
          </p:cNvPr>
          <p:cNvSpPr txBox="1"/>
          <p:nvPr/>
        </p:nvSpPr>
        <p:spPr>
          <a:xfrm>
            <a:off x="5943024" y="5768313"/>
            <a:ext cx="6094378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1. Vizatimi teknik i shasisë së rimorkios për kontejner</a:t>
            </a:r>
            <a:endParaRPr lang="en-US" sz="1200" i="1" dirty="0"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0627341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5B925-1A5E-E24B-4B3A-BC78EBC69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11946-888B-C1A4-3D06-94CA5F481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A8F289-03B4-659C-7DDD-BEACDE350922}"/>
              </a:ext>
            </a:extLst>
          </p:cNvPr>
          <p:cNvSpPr txBox="1"/>
          <p:nvPr/>
        </p:nvSpPr>
        <p:spPr>
          <a:xfrm>
            <a:off x="0" y="5395873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22. Caktimi i llojit të trupave dhe lidhjeve mes tyre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3" name="Picture 2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40839D5A-1D07-28AF-61A9-8C5BBEA1C8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39" y="2229782"/>
            <a:ext cx="5532672" cy="2970837"/>
          </a:xfrm>
          <a:prstGeom prst="rect">
            <a:avLst/>
          </a:prstGeom>
        </p:spPr>
      </p:pic>
      <p:pic>
        <p:nvPicPr>
          <p:cNvPr id="4" name="Picture 3" descr="A computer screen shot of a metal structure&#10;&#10;Description automatically generated">
            <a:extLst>
              <a:ext uri="{FF2B5EF4-FFF2-40B4-BE49-F238E27FC236}">
                <a16:creationId xmlns:a16="http://schemas.microsoft.com/office/drawing/2014/main" id="{872F536F-936D-4EF6-169F-B3CF900AC1D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811" y="2229782"/>
            <a:ext cx="5527322" cy="297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2116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E9059-9507-8792-8318-C13004A37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DD61-CE9E-A231-F999-CF902BFC1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5BAC78-9FAE-0C79-9312-1E9DDD28CE10}"/>
              </a:ext>
            </a:extLst>
          </p:cNvPr>
          <p:cNvSpPr txBox="1"/>
          <p:nvPr/>
        </p:nvSpPr>
        <p:spPr>
          <a:xfrm>
            <a:off x="-1" y="6375636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24. Skema e paraqitjes së vektorëve të ngarkesës dhe çernierave në modelin 3D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129033-82EC-7DBF-428C-99E20E36CBEB}"/>
              </a:ext>
            </a:extLst>
          </p:cNvPr>
          <p:cNvGrpSpPr/>
          <p:nvPr/>
        </p:nvGrpSpPr>
        <p:grpSpPr>
          <a:xfrm>
            <a:off x="2653252" y="1432405"/>
            <a:ext cx="6553151" cy="5227239"/>
            <a:chOff x="0" y="2"/>
            <a:chExt cx="5718175" cy="456142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A2A9C9C-5A12-10CE-C8B8-182AF3930F50}"/>
                </a:ext>
              </a:extLst>
            </p:cNvPr>
            <p:cNvGrpSpPr/>
            <p:nvPr/>
          </p:nvGrpSpPr>
          <p:grpSpPr>
            <a:xfrm>
              <a:off x="0" y="2"/>
              <a:ext cx="5718175" cy="3879232"/>
              <a:chOff x="0" y="36998"/>
              <a:chExt cx="5718175" cy="3879232"/>
            </a:xfrm>
          </p:grpSpPr>
          <p:pic>
            <p:nvPicPr>
              <p:cNvPr id="37" name="Picture 36">
                <a:extLst>
                  <a:ext uri="{FF2B5EF4-FFF2-40B4-BE49-F238E27FC236}">
                    <a16:creationId xmlns:a16="http://schemas.microsoft.com/office/drawing/2014/main" id="{F1D1762F-2142-AE54-3F77-BB769DDE4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2124790"/>
                <a:ext cx="5718175" cy="1791440"/>
              </a:xfrm>
              <a:prstGeom prst="rect">
                <a:avLst/>
              </a:prstGeom>
            </p:spPr>
          </p:pic>
          <p:pic>
            <p:nvPicPr>
              <p:cNvPr id="38" name="Picture 37" descr="A blue container with white writing&#10;&#10;Description automatically generated">
                <a:extLst>
                  <a:ext uri="{FF2B5EF4-FFF2-40B4-BE49-F238E27FC236}">
                    <a16:creationId xmlns:a16="http://schemas.microsoft.com/office/drawing/2014/main" id="{ACE7366F-669D-0DF3-E61F-051CB014264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alphaModFix amt="70000"/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89" t="15158" r="8889" b="21176"/>
              <a:stretch/>
            </p:blipFill>
            <p:spPr>
              <a:xfrm>
                <a:off x="624045" y="36998"/>
                <a:ext cx="4682646" cy="3583603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C7E9624-975A-6C9C-3F21-349AE322BB0C}"/>
                </a:ext>
              </a:extLst>
            </p:cNvPr>
            <p:cNvGrpSpPr/>
            <p:nvPr/>
          </p:nvGrpSpPr>
          <p:grpSpPr>
            <a:xfrm>
              <a:off x="137424" y="428129"/>
              <a:ext cx="5263645" cy="4133300"/>
              <a:chOff x="137424" y="428129"/>
              <a:chExt cx="5263645" cy="4133300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26011B2C-C9FC-5731-4983-D547E1918EB5}"/>
                  </a:ext>
                </a:extLst>
              </p:cNvPr>
              <p:cNvCxnSpPr/>
              <p:nvPr/>
            </p:nvCxnSpPr>
            <p:spPr>
              <a:xfrm>
                <a:off x="681836" y="428129"/>
                <a:ext cx="4540287" cy="2040222"/>
              </a:xfrm>
              <a:prstGeom prst="line">
                <a:avLst/>
              </a:prstGeom>
              <a:ln w="28575" cap="flat" cmpd="sng" algn="ctr">
                <a:solidFill>
                  <a:srgbClr val="FF01D5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B60704-E5AC-1100-77C7-12F3C039409B}"/>
                  </a:ext>
                </a:extLst>
              </p:cNvPr>
              <p:cNvCxnSpPr/>
              <p:nvPr/>
            </p:nvCxnSpPr>
            <p:spPr>
              <a:xfrm flipV="1">
                <a:off x="782261" y="824546"/>
                <a:ext cx="4450433" cy="2182931"/>
              </a:xfrm>
              <a:prstGeom prst="line">
                <a:avLst/>
              </a:prstGeom>
              <a:ln w="28575" cap="flat" cmpd="sng" algn="ctr">
                <a:solidFill>
                  <a:srgbClr val="FF01D5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0C5F704F-070F-7D1F-4D9B-9B2B630F0A3E}"/>
                  </a:ext>
                </a:extLst>
              </p:cNvPr>
              <p:cNvCxnSpPr/>
              <p:nvPr/>
            </p:nvCxnSpPr>
            <p:spPr>
              <a:xfrm>
                <a:off x="3472606" y="1680805"/>
                <a:ext cx="0" cy="729405"/>
              </a:xfrm>
              <a:prstGeom prst="straightConnector1">
                <a:avLst/>
              </a:prstGeom>
              <a:ln w="57150">
                <a:solidFill>
                  <a:srgbClr val="FF01D5"/>
                </a:solidFill>
                <a:tailEnd type="triangle"/>
              </a:ln>
              <a:effectLst>
                <a:glow rad="63500">
                  <a:srgbClr val="FF01D5">
                    <a:alpha val="40000"/>
                  </a:srgbClr>
                </a:glow>
              </a:effectLst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6502FB66-FA5C-5FF0-DD1A-2BC2F3054014}"/>
                  </a:ext>
                </a:extLst>
              </p:cNvPr>
              <p:cNvCxnSpPr/>
              <p:nvPr/>
            </p:nvCxnSpPr>
            <p:spPr>
              <a:xfrm flipH="1" flipV="1">
                <a:off x="972540" y="3726311"/>
                <a:ext cx="5286" cy="549698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7D8886A1-602A-1AD3-1CB7-5D65EFCD90C3}"/>
                  </a:ext>
                </a:extLst>
              </p:cNvPr>
              <p:cNvCxnSpPr/>
              <p:nvPr/>
            </p:nvCxnSpPr>
            <p:spPr>
              <a:xfrm flipH="1" flipV="1">
                <a:off x="4508864" y="2886201"/>
                <a:ext cx="5080" cy="54927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3874B7B-77D5-7353-7443-9BC7F413CDBC}"/>
                  </a:ext>
                </a:extLst>
              </p:cNvPr>
              <p:cNvCxnSpPr/>
              <p:nvPr/>
            </p:nvCxnSpPr>
            <p:spPr>
              <a:xfrm flipH="1" flipV="1">
                <a:off x="4149448" y="3028912"/>
                <a:ext cx="5080" cy="54927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617D77A-4A32-9D1E-FC3F-65AC11ABA8C5}"/>
                  </a:ext>
                </a:extLst>
              </p:cNvPr>
              <p:cNvCxnSpPr/>
              <p:nvPr/>
            </p:nvCxnSpPr>
            <p:spPr>
              <a:xfrm flipH="1" flipV="1">
                <a:off x="3864027" y="3166335"/>
                <a:ext cx="5080" cy="54927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5CE069D-4117-991F-AF36-4973F210A05B}"/>
                  </a:ext>
                </a:extLst>
              </p:cNvPr>
              <p:cNvCxnSpPr/>
              <p:nvPr/>
            </p:nvCxnSpPr>
            <p:spPr>
              <a:xfrm flipV="1">
                <a:off x="391131" y="3726103"/>
                <a:ext cx="544702" cy="216917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9E6714D-498C-B3A7-E032-419BD5395E49}"/>
                  </a:ext>
                </a:extLst>
              </p:cNvPr>
              <p:cNvCxnSpPr/>
              <p:nvPr/>
            </p:nvCxnSpPr>
            <p:spPr>
              <a:xfrm flipV="1">
                <a:off x="3292897" y="3192619"/>
                <a:ext cx="533916" cy="248273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E1747B2-351D-2017-372C-54B2AD495CF4}"/>
                  </a:ext>
                </a:extLst>
              </p:cNvPr>
              <p:cNvCxnSpPr/>
              <p:nvPr/>
            </p:nvCxnSpPr>
            <p:spPr>
              <a:xfrm rot="10800000" flipV="1">
                <a:off x="4545657" y="2653637"/>
                <a:ext cx="544195" cy="21653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95F7EAB3-04B3-A53C-10AB-409395C665CD}"/>
                  </a:ext>
                </a:extLst>
              </p:cNvPr>
              <p:cNvCxnSpPr/>
              <p:nvPr/>
            </p:nvCxnSpPr>
            <p:spPr>
              <a:xfrm flipH="1" flipV="1">
                <a:off x="1030757" y="3752694"/>
                <a:ext cx="560193" cy="142756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3F4886E7-8AF7-4CD3-AE12-0F800CBDCA7E}"/>
                  </a:ext>
                </a:extLst>
              </p:cNvPr>
              <p:cNvCxnSpPr/>
              <p:nvPr/>
            </p:nvCxnSpPr>
            <p:spPr>
              <a:xfrm flipH="1" flipV="1">
                <a:off x="4535086" y="2881620"/>
                <a:ext cx="507328" cy="189284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B61E6F3-BD15-FFE6-AD48-6D3DD15EE320}"/>
                  </a:ext>
                </a:extLst>
              </p:cNvPr>
              <p:cNvCxnSpPr/>
              <p:nvPr/>
            </p:nvCxnSpPr>
            <p:spPr>
              <a:xfrm flipH="1" flipV="1">
                <a:off x="3879885" y="3171478"/>
                <a:ext cx="216416" cy="94991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AF844029-6735-F9BB-CEDA-8760E0000D5C}"/>
                  </a:ext>
                </a:extLst>
              </p:cNvPr>
              <p:cNvCxnSpPr/>
              <p:nvPr/>
            </p:nvCxnSpPr>
            <p:spPr>
              <a:xfrm flipH="1" flipV="1">
                <a:off x="4165304" y="3039355"/>
                <a:ext cx="215900" cy="9461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8813E9DE-65BE-10B0-1539-3EE8BF187EF0}"/>
                  </a:ext>
                </a:extLst>
              </p:cNvPr>
              <p:cNvCxnSpPr/>
              <p:nvPr/>
            </p:nvCxnSpPr>
            <p:spPr>
              <a:xfrm flipH="1">
                <a:off x="4181171" y="2928194"/>
                <a:ext cx="226976" cy="89203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4" name="Text Box 1505578026">
                    <a:extLst>
                      <a:ext uri="{FF2B5EF4-FFF2-40B4-BE49-F238E27FC236}">
                        <a16:creationId xmlns:a16="http://schemas.microsoft.com/office/drawing/2014/main" id="{49684458-CCD4-3D6A-EBC4-01DA7739F9EA}"/>
                      </a:ext>
                    </a:extLst>
                  </p:cNvPr>
                  <p:cNvSpPr txBox="1"/>
                  <p:nvPr/>
                </p:nvSpPr>
                <p:spPr>
                  <a:xfrm>
                    <a:off x="866830" y="4117256"/>
                    <a:ext cx="554983" cy="444173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24" name="Text Box 1505578026">
                    <a:extLst>
                      <a:ext uri="{FF2B5EF4-FFF2-40B4-BE49-F238E27FC236}">
                        <a16:creationId xmlns:a16="http://schemas.microsoft.com/office/drawing/2014/main" id="{49684458-CCD4-3D6A-EBC4-01DA7739F9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6830" y="4117256"/>
                    <a:ext cx="554983" cy="44417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 Box 1">
                    <a:extLst>
                      <a:ext uri="{FF2B5EF4-FFF2-40B4-BE49-F238E27FC236}">
                        <a16:creationId xmlns:a16="http://schemas.microsoft.com/office/drawing/2014/main" id="{315B6948-0817-0C88-FDA4-EF5EC47B91B2}"/>
                      </a:ext>
                    </a:extLst>
                  </p:cNvPr>
                  <p:cNvSpPr txBox="1"/>
                  <p:nvPr/>
                </p:nvSpPr>
                <p:spPr>
                  <a:xfrm>
                    <a:off x="3694890" y="3689437"/>
                    <a:ext cx="369697" cy="33815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25" name="Text Box 1">
                    <a:extLst>
                      <a:ext uri="{FF2B5EF4-FFF2-40B4-BE49-F238E27FC236}">
                        <a16:creationId xmlns:a16="http://schemas.microsoft.com/office/drawing/2014/main" id="{315B6948-0817-0C88-FDA4-EF5EC47B91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4890" y="3689437"/>
                    <a:ext cx="369697" cy="33815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 Box 1">
                    <a:extLst>
                      <a:ext uri="{FF2B5EF4-FFF2-40B4-BE49-F238E27FC236}">
                        <a16:creationId xmlns:a16="http://schemas.microsoft.com/office/drawing/2014/main" id="{BB72DDBA-971D-42A2-0A46-C748638FC851}"/>
                      </a:ext>
                    </a:extLst>
                  </p:cNvPr>
                  <p:cNvSpPr txBox="1"/>
                  <p:nvPr/>
                </p:nvSpPr>
                <p:spPr>
                  <a:xfrm>
                    <a:off x="4001789" y="3541292"/>
                    <a:ext cx="369362" cy="322444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26" name="Text Box 1">
                    <a:extLst>
                      <a:ext uri="{FF2B5EF4-FFF2-40B4-BE49-F238E27FC236}">
                        <a16:creationId xmlns:a16="http://schemas.microsoft.com/office/drawing/2014/main" id="{BB72DDBA-971D-42A2-0A46-C748638FC8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01789" y="3541292"/>
                    <a:ext cx="369362" cy="322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7" name="Text Box 1">
                    <a:extLst>
                      <a:ext uri="{FF2B5EF4-FFF2-40B4-BE49-F238E27FC236}">
                        <a16:creationId xmlns:a16="http://schemas.microsoft.com/office/drawing/2014/main" id="{E12130B8-3E2A-A86C-0E7E-32437B0B8F60}"/>
                      </a:ext>
                    </a:extLst>
                  </p:cNvPr>
                  <p:cNvSpPr txBox="1"/>
                  <p:nvPr/>
                </p:nvSpPr>
                <p:spPr>
                  <a:xfrm>
                    <a:off x="4381204" y="3383043"/>
                    <a:ext cx="368935" cy="32194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27" name="Text Box 1">
                    <a:extLst>
                      <a:ext uri="{FF2B5EF4-FFF2-40B4-BE49-F238E27FC236}">
                        <a16:creationId xmlns:a16="http://schemas.microsoft.com/office/drawing/2014/main" id="{E12130B8-3E2A-A86C-0E7E-32437B0B8F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1204" y="3383043"/>
                    <a:ext cx="368935" cy="32194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Text Box 1">
                    <a:extLst>
                      <a:ext uri="{FF2B5EF4-FFF2-40B4-BE49-F238E27FC236}">
                        <a16:creationId xmlns:a16="http://schemas.microsoft.com/office/drawing/2014/main" id="{2005B60B-A81E-3F7B-0BC0-1761BE6BD7C6}"/>
                      </a:ext>
                    </a:extLst>
                  </p:cNvPr>
                  <p:cNvSpPr txBox="1"/>
                  <p:nvPr/>
                </p:nvSpPr>
                <p:spPr>
                  <a:xfrm>
                    <a:off x="137424" y="3794977"/>
                    <a:ext cx="326942" cy="32194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28" name="Text Box 1">
                    <a:extLst>
                      <a:ext uri="{FF2B5EF4-FFF2-40B4-BE49-F238E27FC236}">
                        <a16:creationId xmlns:a16="http://schemas.microsoft.com/office/drawing/2014/main" id="{2005B60B-A81E-3F7B-0BC0-1761BE6BD7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424" y="3794977"/>
                    <a:ext cx="326942" cy="32194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" name="Text Box 1">
                    <a:extLst>
                      <a:ext uri="{FF2B5EF4-FFF2-40B4-BE49-F238E27FC236}">
                        <a16:creationId xmlns:a16="http://schemas.microsoft.com/office/drawing/2014/main" id="{89D7007E-E9C8-E9E5-DE95-8B47210DF269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911" y="3473689"/>
                    <a:ext cx="368935" cy="32131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29" name="Text Box 1">
                    <a:extLst>
                      <a:ext uri="{FF2B5EF4-FFF2-40B4-BE49-F238E27FC236}">
                        <a16:creationId xmlns:a16="http://schemas.microsoft.com/office/drawing/2014/main" id="{89D7007E-E9C8-E9E5-DE95-8B47210DF26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911" y="3473689"/>
                    <a:ext cx="368935" cy="3213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" name="Text Box 1">
                    <a:extLst>
                      <a:ext uri="{FF2B5EF4-FFF2-40B4-BE49-F238E27FC236}">
                        <a16:creationId xmlns:a16="http://schemas.microsoft.com/office/drawing/2014/main" id="{C157573C-E65D-81C5-2172-D4150CEC5152}"/>
                      </a:ext>
                    </a:extLst>
                  </p:cNvPr>
                  <p:cNvSpPr txBox="1"/>
                  <p:nvPr/>
                </p:nvSpPr>
                <p:spPr>
                  <a:xfrm>
                    <a:off x="5032134" y="2542641"/>
                    <a:ext cx="368935" cy="32131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30" name="Text Box 1">
                    <a:extLst>
                      <a:ext uri="{FF2B5EF4-FFF2-40B4-BE49-F238E27FC236}">
                        <a16:creationId xmlns:a16="http://schemas.microsoft.com/office/drawing/2014/main" id="{C157573C-E65D-81C5-2172-D4150CEC51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2134" y="2542641"/>
                    <a:ext cx="368935" cy="3213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1" name="Text Box 1">
                    <a:extLst>
                      <a:ext uri="{FF2B5EF4-FFF2-40B4-BE49-F238E27FC236}">
                        <a16:creationId xmlns:a16="http://schemas.microsoft.com/office/drawing/2014/main" id="{06055593-634D-AEB9-D81D-906464C6248D}"/>
                      </a:ext>
                    </a:extLst>
                  </p:cNvPr>
                  <p:cNvSpPr txBox="1"/>
                  <p:nvPr/>
                </p:nvSpPr>
                <p:spPr>
                  <a:xfrm>
                    <a:off x="4027879" y="2621923"/>
                    <a:ext cx="368935" cy="32131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31" name="Text Box 1">
                    <a:extLst>
                      <a:ext uri="{FF2B5EF4-FFF2-40B4-BE49-F238E27FC236}">
                        <a16:creationId xmlns:a16="http://schemas.microsoft.com/office/drawing/2014/main" id="{06055593-634D-AEB9-D81D-906464C624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7879" y="2621923"/>
                    <a:ext cx="368935" cy="3213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 Box 1">
                    <a:extLst>
                      <a:ext uri="{FF2B5EF4-FFF2-40B4-BE49-F238E27FC236}">
                        <a16:creationId xmlns:a16="http://schemas.microsoft.com/office/drawing/2014/main" id="{29638CEF-EE6F-722E-6880-62DFB37D1147}"/>
                      </a:ext>
                    </a:extLst>
                  </p:cNvPr>
                  <p:cNvSpPr txBox="1"/>
                  <p:nvPr/>
                </p:nvSpPr>
                <p:spPr>
                  <a:xfrm>
                    <a:off x="1501387" y="3774173"/>
                    <a:ext cx="368935" cy="32131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32" name="Text Box 1">
                    <a:extLst>
                      <a:ext uri="{FF2B5EF4-FFF2-40B4-BE49-F238E27FC236}">
                        <a16:creationId xmlns:a16="http://schemas.microsoft.com/office/drawing/2014/main" id="{29638CEF-EE6F-722E-6880-62DFB37D11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1387" y="3774173"/>
                    <a:ext cx="368935" cy="3213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3" name="Text Box 1">
                    <a:extLst>
                      <a:ext uri="{FF2B5EF4-FFF2-40B4-BE49-F238E27FC236}">
                        <a16:creationId xmlns:a16="http://schemas.microsoft.com/office/drawing/2014/main" id="{865B03BB-C502-BA60-0537-398DF4F3125C}"/>
                      </a:ext>
                    </a:extLst>
                  </p:cNvPr>
                  <p:cNvSpPr txBox="1"/>
                  <p:nvPr/>
                </p:nvSpPr>
                <p:spPr>
                  <a:xfrm>
                    <a:off x="4973993" y="2944195"/>
                    <a:ext cx="368935" cy="32067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33" name="Text Box 1">
                    <a:extLst>
                      <a:ext uri="{FF2B5EF4-FFF2-40B4-BE49-F238E27FC236}">
                        <a16:creationId xmlns:a16="http://schemas.microsoft.com/office/drawing/2014/main" id="{865B03BB-C502-BA60-0537-398DF4F312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3993" y="2944195"/>
                    <a:ext cx="368935" cy="32067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Text Box 1">
                    <a:extLst>
                      <a:ext uri="{FF2B5EF4-FFF2-40B4-BE49-F238E27FC236}">
                        <a16:creationId xmlns:a16="http://schemas.microsoft.com/office/drawing/2014/main" id="{9032DEBC-DEE9-1B40-23FF-D956CEE50E63}"/>
                      </a:ext>
                    </a:extLst>
                  </p:cNvPr>
                  <p:cNvSpPr txBox="1"/>
                  <p:nvPr/>
                </p:nvSpPr>
                <p:spPr>
                  <a:xfrm>
                    <a:off x="3826813" y="3171343"/>
                    <a:ext cx="368935" cy="32067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34" name="Text Box 1">
                    <a:extLst>
                      <a:ext uri="{FF2B5EF4-FFF2-40B4-BE49-F238E27FC236}">
                        <a16:creationId xmlns:a16="http://schemas.microsoft.com/office/drawing/2014/main" id="{9032DEBC-DEE9-1B40-23FF-D956CEE50E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26813" y="3171343"/>
                    <a:ext cx="368935" cy="32067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5" name="Text Box 1">
                    <a:extLst>
                      <a:ext uri="{FF2B5EF4-FFF2-40B4-BE49-F238E27FC236}">
                        <a16:creationId xmlns:a16="http://schemas.microsoft.com/office/drawing/2014/main" id="{355A8485-F7B3-2B9D-B4EC-505A3F0BB847}"/>
                      </a:ext>
                    </a:extLst>
                  </p:cNvPr>
                  <p:cNvSpPr txBox="1"/>
                  <p:nvPr/>
                </p:nvSpPr>
                <p:spPr>
                  <a:xfrm>
                    <a:off x="4107163" y="3055338"/>
                    <a:ext cx="368935" cy="32067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35" name="Text Box 1">
                    <a:extLst>
                      <a:ext uri="{FF2B5EF4-FFF2-40B4-BE49-F238E27FC236}">
                        <a16:creationId xmlns:a16="http://schemas.microsoft.com/office/drawing/2014/main" id="{355A8485-F7B3-2B9D-B4EC-505A3F0BB8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7163" y="3055338"/>
                    <a:ext cx="368935" cy="32067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" name="Text Box 1">
                    <a:extLst>
                      <a:ext uri="{FF2B5EF4-FFF2-40B4-BE49-F238E27FC236}">
                        <a16:creationId xmlns:a16="http://schemas.microsoft.com/office/drawing/2014/main" id="{F7929446-ADFB-0CE2-8CCC-C6D2C9449CA6}"/>
                      </a:ext>
                    </a:extLst>
                  </p:cNvPr>
                  <p:cNvSpPr txBox="1"/>
                  <p:nvPr/>
                </p:nvSpPr>
                <p:spPr>
                  <a:xfrm>
                    <a:off x="3420042" y="2220214"/>
                    <a:ext cx="401410" cy="390847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sq-AL" sz="1800" i="1">
                              <a:solidFill>
                                <a:srgbClr val="FF01D5"/>
                              </a:solidFill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</a:rPr>
                            <m:t>𝐺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36" name="Text Box 1">
                    <a:extLst>
                      <a:ext uri="{FF2B5EF4-FFF2-40B4-BE49-F238E27FC236}">
                        <a16:creationId xmlns:a16="http://schemas.microsoft.com/office/drawing/2014/main" id="{F7929446-ADFB-0CE2-8CCC-C6D2C9449C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0042" y="2220214"/>
                    <a:ext cx="401410" cy="390847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935092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4075-7347-0522-257C-0E5262268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C13B8-A751-AEC4-5790-15CAC604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24DA4A-32B0-0BB8-0E8F-BC8C6F1433A4}"/>
              </a:ext>
            </a:extLst>
          </p:cNvPr>
          <p:cNvSpPr txBox="1"/>
          <p:nvPr/>
        </p:nvSpPr>
        <p:spPr>
          <a:xfrm>
            <a:off x="3098645" y="6375636"/>
            <a:ext cx="9093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24. </a:t>
            </a:r>
            <a:r>
              <a:rPr lang="sq-AL" sz="1800" i="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Skema e paraqitjeve të vektorëve të ngarkesës dhe çernierave në vizatimin teknik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DFEE12-F515-E05B-FFA1-E97AC4BC7E50}"/>
              </a:ext>
            </a:extLst>
          </p:cNvPr>
          <p:cNvGrpSpPr/>
          <p:nvPr/>
        </p:nvGrpSpPr>
        <p:grpSpPr>
          <a:xfrm>
            <a:off x="4051164" y="1449421"/>
            <a:ext cx="7991878" cy="4717915"/>
            <a:chOff x="0" y="5053173"/>
            <a:chExt cx="5718175" cy="337604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0625224-1C89-02B6-07BF-988B3A094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50000"/>
              <a:alphaModFix amt="2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053173"/>
              <a:ext cx="5718175" cy="3376042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39936794-D2E8-BF6B-FC12-47A50055E64F}"/>
                </a:ext>
              </a:extLst>
            </p:cNvPr>
            <p:cNvCxnSpPr/>
            <p:nvPr/>
          </p:nvCxnSpPr>
          <p:spPr>
            <a:xfrm flipH="1" flipV="1">
              <a:off x="935833" y="5645258"/>
              <a:ext cx="0" cy="36576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4F4C5F1C-BD88-1B06-D2FD-60E8EB70D14D}"/>
                </a:ext>
              </a:extLst>
            </p:cNvPr>
            <p:cNvCxnSpPr/>
            <p:nvPr/>
          </p:nvCxnSpPr>
          <p:spPr>
            <a:xfrm flipH="1" flipV="1">
              <a:off x="3234861" y="5813944"/>
              <a:ext cx="0" cy="365125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CACC7D96-C814-092B-CCA1-924E78885EAB}"/>
                </a:ext>
              </a:extLst>
            </p:cNvPr>
            <p:cNvCxnSpPr/>
            <p:nvPr/>
          </p:nvCxnSpPr>
          <p:spPr>
            <a:xfrm flipH="1" flipV="1">
              <a:off x="3853560" y="5787516"/>
              <a:ext cx="0" cy="365125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A3FDCA87-9536-C167-45BB-42BE2A0070B6}"/>
                </a:ext>
              </a:extLst>
            </p:cNvPr>
            <p:cNvCxnSpPr/>
            <p:nvPr/>
          </p:nvCxnSpPr>
          <p:spPr>
            <a:xfrm flipH="1" flipV="1">
              <a:off x="4482250" y="5787517"/>
              <a:ext cx="0" cy="365125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3B8FD48-2304-52E6-AD44-FB08AAC8869B}"/>
                </a:ext>
              </a:extLst>
            </p:cNvPr>
            <p:cNvCxnSpPr/>
            <p:nvPr/>
          </p:nvCxnSpPr>
          <p:spPr>
            <a:xfrm flipV="1">
              <a:off x="570073" y="5655377"/>
              <a:ext cx="365760" cy="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A97FB5B7-FAA3-E36E-9D2D-47AE8010CB0E}"/>
                </a:ext>
              </a:extLst>
            </p:cNvPr>
            <p:cNvCxnSpPr/>
            <p:nvPr/>
          </p:nvCxnSpPr>
          <p:spPr>
            <a:xfrm flipV="1">
              <a:off x="2816244" y="5808247"/>
              <a:ext cx="365760" cy="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9FAAE53-29D9-60EB-561B-8C3331D52F62}"/>
                </a:ext>
              </a:extLst>
            </p:cNvPr>
            <p:cNvCxnSpPr/>
            <p:nvPr/>
          </p:nvCxnSpPr>
          <p:spPr>
            <a:xfrm flipH="1" flipV="1">
              <a:off x="4491764" y="5786742"/>
              <a:ext cx="365760" cy="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46C45DA-4B64-C96D-BA67-55F01DA24181}"/>
                </a:ext>
              </a:extLst>
            </p:cNvPr>
            <p:cNvCxnSpPr/>
            <p:nvPr/>
          </p:nvCxnSpPr>
          <p:spPr>
            <a:xfrm flipH="1" flipV="1">
              <a:off x="3864027" y="5786748"/>
              <a:ext cx="365760" cy="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 Box 1">
                  <a:extLst>
                    <a:ext uri="{FF2B5EF4-FFF2-40B4-BE49-F238E27FC236}">
                      <a16:creationId xmlns:a16="http://schemas.microsoft.com/office/drawing/2014/main" id="{74FD7632-58AB-6EB9-6BD5-50A21396537D}"/>
                    </a:ext>
                  </a:extLst>
                </p:cNvPr>
                <p:cNvSpPr txBox="1"/>
                <p:nvPr/>
              </p:nvSpPr>
              <p:spPr>
                <a:xfrm>
                  <a:off x="586986" y="6010596"/>
                  <a:ext cx="359127" cy="289779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47" name="Text Box 1">
                  <a:extLst>
                    <a:ext uri="{FF2B5EF4-FFF2-40B4-BE49-F238E27FC236}">
                      <a16:creationId xmlns:a16="http://schemas.microsoft.com/office/drawing/2014/main" id="{74FD7632-58AB-6EB9-6BD5-50A213965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986" y="6010596"/>
                  <a:ext cx="359127" cy="28977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 Box 1">
                  <a:extLst>
                    <a:ext uri="{FF2B5EF4-FFF2-40B4-BE49-F238E27FC236}">
                      <a16:creationId xmlns:a16="http://schemas.microsoft.com/office/drawing/2014/main" id="{26A3C973-D9CE-74EA-813E-62C9AFB5252B}"/>
                    </a:ext>
                  </a:extLst>
                </p:cNvPr>
                <p:cNvSpPr txBox="1"/>
                <p:nvPr/>
              </p:nvSpPr>
              <p:spPr>
                <a:xfrm>
                  <a:off x="2948837" y="6033658"/>
                  <a:ext cx="358775" cy="384233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48" name="Text Box 1">
                  <a:extLst>
                    <a:ext uri="{FF2B5EF4-FFF2-40B4-BE49-F238E27FC236}">
                      <a16:creationId xmlns:a16="http://schemas.microsoft.com/office/drawing/2014/main" id="{26A3C973-D9CE-74EA-813E-62C9AFB525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8837" y="6033658"/>
                  <a:ext cx="358775" cy="38423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 Box 1">
                  <a:extLst>
                    <a:ext uri="{FF2B5EF4-FFF2-40B4-BE49-F238E27FC236}">
                      <a16:creationId xmlns:a16="http://schemas.microsoft.com/office/drawing/2014/main" id="{783EFFD4-0D9B-B9C3-1B17-7C4E02B281C9}"/>
                    </a:ext>
                  </a:extLst>
                </p:cNvPr>
                <p:cNvSpPr txBox="1"/>
                <p:nvPr/>
              </p:nvSpPr>
              <p:spPr>
                <a:xfrm>
                  <a:off x="3683776" y="6068052"/>
                  <a:ext cx="358775" cy="3841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49" name="Text Box 1">
                  <a:extLst>
                    <a:ext uri="{FF2B5EF4-FFF2-40B4-BE49-F238E27FC236}">
                      <a16:creationId xmlns:a16="http://schemas.microsoft.com/office/drawing/2014/main" id="{783EFFD4-0D9B-B9C3-1B17-7C4E02B281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3776" y="6068052"/>
                  <a:ext cx="358775" cy="3841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 Box 1">
                  <a:extLst>
                    <a:ext uri="{FF2B5EF4-FFF2-40B4-BE49-F238E27FC236}">
                      <a16:creationId xmlns:a16="http://schemas.microsoft.com/office/drawing/2014/main" id="{3873B299-6C75-02B3-F2E9-AF3658A9D93F}"/>
                    </a:ext>
                  </a:extLst>
                </p:cNvPr>
                <p:cNvSpPr txBox="1"/>
                <p:nvPr/>
              </p:nvSpPr>
              <p:spPr>
                <a:xfrm>
                  <a:off x="4427259" y="5948412"/>
                  <a:ext cx="358775" cy="3841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0" name="Text Box 1">
                  <a:extLst>
                    <a:ext uri="{FF2B5EF4-FFF2-40B4-BE49-F238E27FC236}">
                      <a16:creationId xmlns:a16="http://schemas.microsoft.com/office/drawing/2014/main" id="{3873B299-6C75-02B3-F2E9-AF3658A9D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7259" y="5948412"/>
                  <a:ext cx="358775" cy="3841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 Box 1">
                  <a:extLst>
                    <a:ext uri="{FF2B5EF4-FFF2-40B4-BE49-F238E27FC236}">
                      <a16:creationId xmlns:a16="http://schemas.microsoft.com/office/drawing/2014/main" id="{5FBC4B80-9D27-7E43-3029-131C404633A0}"/>
                    </a:ext>
                  </a:extLst>
                </p:cNvPr>
                <p:cNvSpPr txBox="1"/>
                <p:nvPr/>
              </p:nvSpPr>
              <p:spPr>
                <a:xfrm>
                  <a:off x="479103" y="5598033"/>
                  <a:ext cx="326390" cy="32131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1" name="Text Box 1">
                  <a:extLst>
                    <a:ext uri="{FF2B5EF4-FFF2-40B4-BE49-F238E27FC236}">
                      <a16:creationId xmlns:a16="http://schemas.microsoft.com/office/drawing/2014/main" id="{5FBC4B80-9D27-7E43-3029-131C40463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103" y="5598033"/>
                  <a:ext cx="326390" cy="3213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 Box 1">
                  <a:extLst>
                    <a:ext uri="{FF2B5EF4-FFF2-40B4-BE49-F238E27FC236}">
                      <a16:creationId xmlns:a16="http://schemas.microsoft.com/office/drawing/2014/main" id="{ACE65245-05A2-48D5-0DB5-82FB84BBB8BC}"/>
                    </a:ext>
                  </a:extLst>
                </p:cNvPr>
                <p:cNvSpPr txBox="1"/>
                <p:nvPr/>
              </p:nvSpPr>
              <p:spPr>
                <a:xfrm>
                  <a:off x="2692464" y="5504030"/>
                  <a:ext cx="326390" cy="3206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2" name="Text Box 1">
                  <a:extLst>
                    <a:ext uri="{FF2B5EF4-FFF2-40B4-BE49-F238E27FC236}">
                      <a16:creationId xmlns:a16="http://schemas.microsoft.com/office/drawing/2014/main" id="{ACE65245-05A2-48D5-0DB5-82FB84BBB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464" y="5504030"/>
                  <a:ext cx="326390" cy="3206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 Box 1">
                  <a:extLst>
                    <a:ext uri="{FF2B5EF4-FFF2-40B4-BE49-F238E27FC236}">
                      <a16:creationId xmlns:a16="http://schemas.microsoft.com/office/drawing/2014/main" id="{CED6D0D0-69AF-4299-604B-5315326D94D6}"/>
                    </a:ext>
                  </a:extLst>
                </p:cNvPr>
                <p:cNvSpPr txBox="1"/>
                <p:nvPr/>
              </p:nvSpPr>
              <p:spPr>
                <a:xfrm>
                  <a:off x="4820367" y="5538213"/>
                  <a:ext cx="326390" cy="3206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3" name="Text Box 1">
                  <a:extLst>
                    <a:ext uri="{FF2B5EF4-FFF2-40B4-BE49-F238E27FC236}">
                      <a16:creationId xmlns:a16="http://schemas.microsoft.com/office/drawing/2014/main" id="{CED6D0D0-69AF-4299-604B-5315326D94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0367" y="5538213"/>
                  <a:ext cx="326390" cy="3206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 Box 1">
                  <a:extLst>
                    <a:ext uri="{FF2B5EF4-FFF2-40B4-BE49-F238E27FC236}">
                      <a16:creationId xmlns:a16="http://schemas.microsoft.com/office/drawing/2014/main" id="{94A72A81-EC0D-8244-95D2-596E484F59EB}"/>
                    </a:ext>
                  </a:extLst>
                </p:cNvPr>
                <p:cNvSpPr txBox="1"/>
                <p:nvPr/>
              </p:nvSpPr>
              <p:spPr>
                <a:xfrm>
                  <a:off x="3923058" y="5521121"/>
                  <a:ext cx="326390" cy="3206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4" name="Text Box 1">
                  <a:extLst>
                    <a:ext uri="{FF2B5EF4-FFF2-40B4-BE49-F238E27FC236}">
                      <a16:creationId xmlns:a16="http://schemas.microsoft.com/office/drawing/2014/main" id="{94A72A81-EC0D-8244-95D2-596E484F59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058" y="5521121"/>
                  <a:ext cx="326390" cy="3206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8588AF4-2975-DCEB-CEC2-A5E872111AF0}"/>
                </a:ext>
              </a:extLst>
            </p:cNvPr>
            <p:cNvSpPr/>
            <p:nvPr/>
          </p:nvSpPr>
          <p:spPr>
            <a:xfrm>
              <a:off x="1244600" y="5238750"/>
              <a:ext cx="3473450" cy="273050"/>
            </a:xfrm>
            <a:prstGeom prst="rect">
              <a:avLst/>
            </a:prstGeom>
            <a:pattFill prst="ltVert">
              <a:fgClr>
                <a:srgbClr val="FF01D5"/>
              </a:fgClr>
              <a:bgClr>
                <a:schemeClr val="bg1"/>
              </a:bgClr>
            </a:pattFill>
            <a:ln w="19050">
              <a:solidFill>
                <a:srgbClr val="FF01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49AB9A6-86B7-2B20-28A4-C926A8387877}"/>
                </a:ext>
              </a:extLst>
            </p:cNvPr>
            <p:cNvCxnSpPr/>
            <p:nvPr/>
          </p:nvCxnSpPr>
          <p:spPr>
            <a:xfrm>
              <a:off x="3039324" y="5376572"/>
              <a:ext cx="0" cy="274320"/>
            </a:xfrm>
            <a:prstGeom prst="straightConnector1">
              <a:avLst/>
            </a:prstGeom>
            <a:ln w="28575">
              <a:solidFill>
                <a:srgbClr val="FF01D5"/>
              </a:solidFill>
              <a:tailEnd type="triangle"/>
            </a:ln>
            <a:effectLst>
              <a:glow rad="38100">
                <a:srgbClr val="FF01D5">
                  <a:alpha val="20000"/>
                </a:srgbClr>
              </a:glow>
            </a:effectLst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52E1DC20-CA94-04B5-CCE1-3EEA07F605ED}"/>
                </a:ext>
              </a:extLst>
            </p:cNvPr>
            <p:cNvCxnSpPr/>
            <p:nvPr/>
          </p:nvCxnSpPr>
          <p:spPr>
            <a:xfrm>
              <a:off x="1244600" y="5238567"/>
              <a:ext cx="3473450" cy="265271"/>
            </a:xfrm>
            <a:prstGeom prst="line">
              <a:avLst/>
            </a:prstGeom>
            <a:ln>
              <a:solidFill>
                <a:srgbClr val="FF01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25A3F95-89E5-A542-CEF9-202220C15CD2}"/>
                </a:ext>
              </a:extLst>
            </p:cNvPr>
            <p:cNvCxnSpPr/>
            <p:nvPr/>
          </p:nvCxnSpPr>
          <p:spPr>
            <a:xfrm flipV="1">
              <a:off x="1244600" y="5244935"/>
              <a:ext cx="3477821" cy="266672"/>
            </a:xfrm>
            <a:prstGeom prst="line">
              <a:avLst/>
            </a:prstGeom>
            <a:ln>
              <a:solidFill>
                <a:srgbClr val="FF01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 Box 1">
                  <a:extLst>
                    <a:ext uri="{FF2B5EF4-FFF2-40B4-BE49-F238E27FC236}">
                      <a16:creationId xmlns:a16="http://schemas.microsoft.com/office/drawing/2014/main" id="{4F09108A-8146-D71E-CC44-79D55C0C0081}"/>
                    </a:ext>
                  </a:extLst>
                </p:cNvPr>
                <p:cNvSpPr txBox="1"/>
                <p:nvPr/>
              </p:nvSpPr>
              <p:spPr>
                <a:xfrm>
                  <a:off x="2933004" y="5511605"/>
                  <a:ext cx="324794" cy="26764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sq-AL" sz="1200" i="1">
                            <a:solidFill>
                              <a:srgbClr val="FF01D5"/>
                            </a:solidFill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𝐺</m:t>
                        </m:r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9" name="Text Box 1">
                  <a:extLst>
                    <a:ext uri="{FF2B5EF4-FFF2-40B4-BE49-F238E27FC236}">
                      <a16:creationId xmlns:a16="http://schemas.microsoft.com/office/drawing/2014/main" id="{4F09108A-8146-D71E-CC44-79D55C0C00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004" y="5511605"/>
                  <a:ext cx="324794" cy="26764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520BE51-F76E-67D3-E496-5EE5BD11671B}"/>
                </a:ext>
              </a:extLst>
            </p:cNvPr>
            <p:cNvSpPr/>
            <p:nvPr/>
          </p:nvSpPr>
          <p:spPr>
            <a:xfrm>
              <a:off x="612151" y="7326166"/>
              <a:ext cx="700459" cy="59018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67831AB0-E04E-E5B5-A20F-A1E7B3D660B8}"/>
                </a:ext>
              </a:extLst>
            </p:cNvPr>
            <p:cNvGrpSpPr/>
            <p:nvPr/>
          </p:nvGrpSpPr>
          <p:grpSpPr>
            <a:xfrm>
              <a:off x="1212395" y="6937422"/>
              <a:ext cx="3498141" cy="1375063"/>
              <a:chOff x="1212395" y="6937422"/>
              <a:chExt cx="3498141" cy="1375063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B422CFD-A2E1-450C-F054-A4126FCD22D8}"/>
                  </a:ext>
                </a:extLst>
              </p:cNvPr>
              <p:cNvSpPr/>
              <p:nvPr/>
            </p:nvSpPr>
            <p:spPr>
              <a:xfrm>
                <a:off x="4545656" y="6937422"/>
                <a:ext cx="119861" cy="1375063"/>
              </a:xfrm>
              <a:prstGeom prst="rect">
                <a:avLst/>
              </a:prstGeom>
              <a:pattFill prst="ltUpDiag">
                <a:fgClr>
                  <a:srgbClr val="FF01D5"/>
                </a:fgClr>
                <a:bgClr>
                  <a:schemeClr val="bg1"/>
                </a:bgClr>
              </a:pattFill>
              <a:ln>
                <a:solidFill>
                  <a:srgbClr val="FF01D5"/>
                </a:solidFill>
              </a:ln>
              <a:effectLst>
                <a:glow>
                  <a:schemeClr val="accent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D88826CD-16D8-44A4-0517-D00181A2BC7D}"/>
                  </a:ext>
                </a:extLst>
              </p:cNvPr>
              <p:cNvSpPr/>
              <p:nvPr/>
            </p:nvSpPr>
            <p:spPr>
              <a:xfrm>
                <a:off x="1312610" y="6937672"/>
                <a:ext cx="119380" cy="1374775"/>
              </a:xfrm>
              <a:prstGeom prst="rect">
                <a:avLst/>
              </a:prstGeom>
              <a:pattFill prst="ltUpDiag">
                <a:fgClr>
                  <a:srgbClr val="FF01D5"/>
                </a:fgClr>
                <a:bgClr>
                  <a:schemeClr val="bg1"/>
                </a:bgClr>
              </a:pattFill>
              <a:ln>
                <a:solidFill>
                  <a:srgbClr val="FF01D5"/>
                </a:solidFill>
              </a:ln>
              <a:effectLst>
                <a:glow>
                  <a:schemeClr val="accent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976DF3FE-6154-0190-2BB6-5EC750FE70F0}"/>
                  </a:ext>
                </a:extLst>
              </p:cNvPr>
              <p:cNvSpPr/>
              <p:nvPr/>
            </p:nvSpPr>
            <p:spPr>
              <a:xfrm>
                <a:off x="1212395" y="7326677"/>
                <a:ext cx="3494315" cy="73190"/>
              </a:xfrm>
              <a:prstGeom prst="rect">
                <a:avLst/>
              </a:prstGeom>
              <a:pattFill prst="ltUpDiag">
                <a:fgClr>
                  <a:srgbClr val="FF01D5"/>
                </a:fgClr>
                <a:bgClr>
                  <a:schemeClr val="bg1"/>
                </a:bgClr>
              </a:pattFill>
              <a:ln>
                <a:solidFill>
                  <a:srgbClr val="FF01D5"/>
                </a:solidFill>
              </a:ln>
              <a:effectLst>
                <a:glow>
                  <a:schemeClr val="accent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7570E9E-E44C-FB39-FF80-F29186A85934}"/>
                  </a:ext>
                </a:extLst>
              </p:cNvPr>
              <p:cNvSpPr/>
              <p:nvPr/>
            </p:nvSpPr>
            <p:spPr>
              <a:xfrm>
                <a:off x="1216766" y="7843598"/>
                <a:ext cx="3493770" cy="73025"/>
              </a:xfrm>
              <a:prstGeom prst="rect">
                <a:avLst/>
              </a:prstGeom>
              <a:pattFill prst="ltUpDiag">
                <a:fgClr>
                  <a:srgbClr val="FF01D5"/>
                </a:fgClr>
                <a:bgClr>
                  <a:schemeClr val="bg1"/>
                </a:bgClr>
              </a:pattFill>
              <a:ln>
                <a:solidFill>
                  <a:srgbClr val="FF01D5"/>
                </a:solidFill>
              </a:ln>
              <a:effectLst>
                <a:glow>
                  <a:schemeClr val="accent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/>
                <a:r>
                  <a:rPr lang="sq-AL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rPr>
                  <a:t>s</a:t>
                </a:r>
                <a:endParaRPr lang="en-US" sz="1200">
                  <a:effectLst/>
                  <a:latin typeface="Times New Roman" panose="02020603050405020304" pitchFamily="18" charset="0"/>
                  <a:ea typeface="MS Mincho" panose="02020609040205080304" pitchFamily="49" charset="-128"/>
                </a:endParaRPr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EC73CF48-157E-B86F-3A8C-B366F38E61E0}"/>
                </a:ext>
              </a:extLst>
            </p:cNvPr>
            <p:cNvSpPr/>
            <p:nvPr/>
          </p:nvSpPr>
          <p:spPr>
            <a:xfrm>
              <a:off x="3182004" y="7843324"/>
              <a:ext cx="88781" cy="72746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AB62EE9-FEA2-6E92-B679-183849760098}"/>
                </a:ext>
              </a:extLst>
            </p:cNvPr>
            <p:cNvSpPr/>
            <p:nvPr/>
          </p:nvSpPr>
          <p:spPr>
            <a:xfrm>
              <a:off x="3800764" y="7843822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3006D97-8ADF-2CC4-AA08-61EDA054C7B3}"/>
                </a:ext>
              </a:extLst>
            </p:cNvPr>
            <p:cNvSpPr/>
            <p:nvPr/>
          </p:nvSpPr>
          <p:spPr>
            <a:xfrm>
              <a:off x="4340539" y="7844348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6211850-DB05-2615-7902-E0FAF3D3A538}"/>
                </a:ext>
              </a:extLst>
            </p:cNvPr>
            <p:cNvSpPr/>
            <p:nvPr/>
          </p:nvSpPr>
          <p:spPr>
            <a:xfrm>
              <a:off x="3184773" y="7327398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C152091E-7806-8C92-6D60-A8C5586FA8D2}"/>
                </a:ext>
              </a:extLst>
            </p:cNvPr>
            <p:cNvSpPr/>
            <p:nvPr/>
          </p:nvSpPr>
          <p:spPr>
            <a:xfrm>
              <a:off x="3807687" y="7327476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97BEC69-86BF-ECD1-39A5-3EB35106669D}"/>
                </a:ext>
              </a:extLst>
            </p:cNvPr>
            <p:cNvSpPr/>
            <p:nvPr/>
          </p:nvSpPr>
          <p:spPr>
            <a:xfrm>
              <a:off x="4344904" y="7327476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72DCE2D-6360-33F8-5401-99D38B735F5C}"/>
              </a:ext>
            </a:extLst>
          </p:cNvPr>
          <p:cNvGrpSpPr/>
          <p:nvPr/>
        </p:nvGrpSpPr>
        <p:grpSpPr>
          <a:xfrm>
            <a:off x="-1" y="2212296"/>
            <a:ext cx="4398991" cy="3508935"/>
            <a:chOff x="0" y="2"/>
            <a:chExt cx="5718175" cy="4561427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62491472-DB9A-12E9-BA15-945D9C4C43C3}"/>
                </a:ext>
              </a:extLst>
            </p:cNvPr>
            <p:cNvGrpSpPr/>
            <p:nvPr/>
          </p:nvGrpSpPr>
          <p:grpSpPr>
            <a:xfrm>
              <a:off x="0" y="2"/>
              <a:ext cx="5718175" cy="3879232"/>
              <a:chOff x="0" y="36998"/>
              <a:chExt cx="5718175" cy="3879232"/>
            </a:xfrm>
          </p:grpSpPr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E1F5482E-0522-30E5-19E8-0DF68A1373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2124790"/>
                <a:ext cx="5718175" cy="1791440"/>
              </a:xfrm>
              <a:prstGeom prst="rect">
                <a:avLst/>
              </a:prstGeom>
            </p:spPr>
          </p:pic>
          <p:pic>
            <p:nvPicPr>
              <p:cNvPr id="104" name="Picture 103" descr="A blue container with white writing&#10;&#10;Description automatically generated">
                <a:extLst>
                  <a:ext uri="{FF2B5EF4-FFF2-40B4-BE49-F238E27FC236}">
                    <a16:creationId xmlns:a16="http://schemas.microsoft.com/office/drawing/2014/main" id="{5FA7B0E2-C1B3-ABBE-B22F-A766FAC3F3A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alphaModFix amt="70000"/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89" t="15158" r="8889" b="21176"/>
              <a:stretch/>
            </p:blipFill>
            <p:spPr>
              <a:xfrm>
                <a:off x="624045" y="36998"/>
                <a:ext cx="4682646" cy="3583603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9F577C16-EF75-7773-C936-43DEEADA5BD8}"/>
                </a:ext>
              </a:extLst>
            </p:cNvPr>
            <p:cNvGrpSpPr/>
            <p:nvPr/>
          </p:nvGrpSpPr>
          <p:grpSpPr>
            <a:xfrm>
              <a:off x="137424" y="428129"/>
              <a:ext cx="5263645" cy="4133300"/>
              <a:chOff x="137424" y="428129"/>
              <a:chExt cx="5263645" cy="4133300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BC1A3F59-65B7-933C-C953-DCFE743FC6B7}"/>
                  </a:ext>
                </a:extLst>
              </p:cNvPr>
              <p:cNvCxnSpPr/>
              <p:nvPr/>
            </p:nvCxnSpPr>
            <p:spPr>
              <a:xfrm>
                <a:off x="681836" y="428129"/>
                <a:ext cx="4540287" cy="2040222"/>
              </a:xfrm>
              <a:prstGeom prst="line">
                <a:avLst/>
              </a:prstGeom>
              <a:ln w="28575" cap="flat" cmpd="sng" algn="ctr">
                <a:solidFill>
                  <a:srgbClr val="FF01D5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65E4EE3D-245E-5A6E-725B-BA1FD4F1FC40}"/>
                  </a:ext>
                </a:extLst>
              </p:cNvPr>
              <p:cNvCxnSpPr/>
              <p:nvPr/>
            </p:nvCxnSpPr>
            <p:spPr>
              <a:xfrm flipV="1">
                <a:off x="782261" y="824546"/>
                <a:ext cx="4450433" cy="2182931"/>
              </a:xfrm>
              <a:prstGeom prst="line">
                <a:avLst/>
              </a:prstGeom>
              <a:ln w="28575" cap="flat" cmpd="sng" algn="ctr">
                <a:solidFill>
                  <a:srgbClr val="FF01D5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47CF0E02-7D6C-8C5C-8252-EC57D713FEC4}"/>
                  </a:ext>
                </a:extLst>
              </p:cNvPr>
              <p:cNvCxnSpPr/>
              <p:nvPr/>
            </p:nvCxnSpPr>
            <p:spPr>
              <a:xfrm>
                <a:off x="3472606" y="1680805"/>
                <a:ext cx="0" cy="729405"/>
              </a:xfrm>
              <a:prstGeom prst="straightConnector1">
                <a:avLst/>
              </a:prstGeom>
              <a:ln w="57150">
                <a:solidFill>
                  <a:srgbClr val="FF01D5"/>
                </a:solidFill>
                <a:tailEnd type="triangle"/>
              </a:ln>
              <a:effectLst>
                <a:glow rad="63500">
                  <a:srgbClr val="FF01D5">
                    <a:alpha val="40000"/>
                  </a:srgbClr>
                </a:glow>
              </a:effectLst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180E736F-155A-55A7-4BAC-8DA7BFCBAF0F}"/>
                  </a:ext>
                </a:extLst>
              </p:cNvPr>
              <p:cNvCxnSpPr/>
              <p:nvPr/>
            </p:nvCxnSpPr>
            <p:spPr>
              <a:xfrm flipH="1" flipV="1">
                <a:off x="972540" y="3726311"/>
                <a:ext cx="5286" cy="549698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CA7ED83B-A879-B268-2A72-6F7655C441D6}"/>
                  </a:ext>
                </a:extLst>
              </p:cNvPr>
              <p:cNvCxnSpPr/>
              <p:nvPr/>
            </p:nvCxnSpPr>
            <p:spPr>
              <a:xfrm flipH="1" flipV="1">
                <a:off x="4508864" y="2886201"/>
                <a:ext cx="5080" cy="54927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AFFFBE4C-C0C2-CE20-CCA9-EE25150E7C95}"/>
                  </a:ext>
                </a:extLst>
              </p:cNvPr>
              <p:cNvCxnSpPr/>
              <p:nvPr/>
            </p:nvCxnSpPr>
            <p:spPr>
              <a:xfrm flipH="1" flipV="1">
                <a:off x="4149448" y="3028912"/>
                <a:ext cx="5080" cy="54927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7D55967D-27E5-F31B-12CE-01EE2511AC6F}"/>
                  </a:ext>
                </a:extLst>
              </p:cNvPr>
              <p:cNvCxnSpPr/>
              <p:nvPr/>
            </p:nvCxnSpPr>
            <p:spPr>
              <a:xfrm flipH="1" flipV="1">
                <a:off x="3864027" y="3166335"/>
                <a:ext cx="5080" cy="54927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Arrow Connector 81">
                <a:extLst>
                  <a:ext uri="{FF2B5EF4-FFF2-40B4-BE49-F238E27FC236}">
                    <a16:creationId xmlns:a16="http://schemas.microsoft.com/office/drawing/2014/main" id="{2615FE21-8BC3-3686-77F9-FD351DE43382}"/>
                  </a:ext>
                </a:extLst>
              </p:cNvPr>
              <p:cNvCxnSpPr/>
              <p:nvPr/>
            </p:nvCxnSpPr>
            <p:spPr>
              <a:xfrm flipV="1">
                <a:off x="391131" y="3726103"/>
                <a:ext cx="544702" cy="216917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Arrow Connector 82">
                <a:extLst>
                  <a:ext uri="{FF2B5EF4-FFF2-40B4-BE49-F238E27FC236}">
                    <a16:creationId xmlns:a16="http://schemas.microsoft.com/office/drawing/2014/main" id="{DC08234F-781B-C120-9F71-B1CFBB176EB6}"/>
                  </a:ext>
                </a:extLst>
              </p:cNvPr>
              <p:cNvCxnSpPr/>
              <p:nvPr/>
            </p:nvCxnSpPr>
            <p:spPr>
              <a:xfrm flipV="1">
                <a:off x="3292897" y="3192619"/>
                <a:ext cx="533916" cy="248273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CAAD5AE0-6C52-6E99-E9AB-D6C73E4F9333}"/>
                  </a:ext>
                </a:extLst>
              </p:cNvPr>
              <p:cNvCxnSpPr/>
              <p:nvPr/>
            </p:nvCxnSpPr>
            <p:spPr>
              <a:xfrm rot="10800000" flipV="1">
                <a:off x="4545657" y="2653637"/>
                <a:ext cx="544195" cy="21653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CF08E64F-C2A8-81DA-383A-121D868A83FE}"/>
                  </a:ext>
                </a:extLst>
              </p:cNvPr>
              <p:cNvCxnSpPr/>
              <p:nvPr/>
            </p:nvCxnSpPr>
            <p:spPr>
              <a:xfrm flipH="1" flipV="1">
                <a:off x="1030757" y="3752694"/>
                <a:ext cx="560193" cy="142756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246F3CD0-57DC-81AA-0489-6BF2BC2FDC5B}"/>
                  </a:ext>
                </a:extLst>
              </p:cNvPr>
              <p:cNvCxnSpPr/>
              <p:nvPr/>
            </p:nvCxnSpPr>
            <p:spPr>
              <a:xfrm flipH="1" flipV="1">
                <a:off x="4535086" y="2881620"/>
                <a:ext cx="507328" cy="189284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934FF0F0-E81B-BD77-9DC0-F7DE399A3A2A}"/>
                  </a:ext>
                </a:extLst>
              </p:cNvPr>
              <p:cNvCxnSpPr/>
              <p:nvPr/>
            </p:nvCxnSpPr>
            <p:spPr>
              <a:xfrm flipH="1" flipV="1">
                <a:off x="3879885" y="3171478"/>
                <a:ext cx="216416" cy="94991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84A10332-60E0-9DB3-98D6-6364F10341D8}"/>
                  </a:ext>
                </a:extLst>
              </p:cNvPr>
              <p:cNvCxnSpPr/>
              <p:nvPr/>
            </p:nvCxnSpPr>
            <p:spPr>
              <a:xfrm flipH="1" flipV="1">
                <a:off x="4165304" y="3039355"/>
                <a:ext cx="215900" cy="94615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E0E22534-CA97-1C66-2D0F-8EC5DE6A3F52}"/>
                  </a:ext>
                </a:extLst>
              </p:cNvPr>
              <p:cNvCxnSpPr/>
              <p:nvPr/>
            </p:nvCxnSpPr>
            <p:spPr>
              <a:xfrm flipH="1">
                <a:off x="4181171" y="2928194"/>
                <a:ext cx="226976" cy="89203"/>
              </a:xfrm>
              <a:prstGeom prst="straightConnector1">
                <a:avLst/>
              </a:prstGeom>
              <a:ln w="38100">
                <a:solidFill>
                  <a:srgbClr val="20E859"/>
                </a:solidFill>
                <a:tailEnd type="triangle"/>
              </a:ln>
              <a:effectLst>
                <a:glow rad="127000">
                  <a:srgbClr val="20E859">
                    <a:alpha val="20000"/>
                  </a:srgb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0" name="Text Box 1505578026">
                    <a:extLst>
                      <a:ext uri="{FF2B5EF4-FFF2-40B4-BE49-F238E27FC236}">
                        <a16:creationId xmlns:a16="http://schemas.microsoft.com/office/drawing/2014/main" id="{04FF8419-F671-1EFE-294F-A465D4A1CADC}"/>
                      </a:ext>
                    </a:extLst>
                  </p:cNvPr>
                  <p:cNvSpPr txBox="1"/>
                  <p:nvPr/>
                </p:nvSpPr>
                <p:spPr>
                  <a:xfrm>
                    <a:off x="866830" y="4117256"/>
                    <a:ext cx="554983" cy="444173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0" name="Text Box 1505578026">
                    <a:extLst>
                      <a:ext uri="{FF2B5EF4-FFF2-40B4-BE49-F238E27FC236}">
                        <a16:creationId xmlns:a16="http://schemas.microsoft.com/office/drawing/2014/main" id="{04FF8419-F671-1EFE-294F-A465D4A1CA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6830" y="4117256"/>
                    <a:ext cx="554983" cy="44417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1" name="Text Box 1">
                    <a:extLst>
                      <a:ext uri="{FF2B5EF4-FFF2-40B4-BE49-F238E27FC236}">
                        <a16:creationId xmlns:a16="http://schemas.microsoft.com/office/drawing/2014/main" id="{CDBE004F-8AF4-39F7-BA04-8D5D8220BF34}"/>
                      </a:ext>
                    </a:extLst>
                  </p:cNvPr>
                  <p:cNvSpPr txBox="1"/>
                  <p:nvPr/>
                </p:nvSpPr>
                <p:spPr>
                  <a:xfrm>
                    <a:off x="3694890" y="3689437"/>
                    <a:ext cx="369697" cy="338152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1" name="Text Box 1">
                    <a:extLst>
                      <a:ext uri="{FF2B5EF4-FFF2-40B4-BE49-F238E27FC236}">
                        <a16:creationId xmlns:a16="http://schemas.microsoft.com/office/drawing/2014/main" id="{CDBE004F-8AF4-39F7-BA04-8D5D8220BF3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94890" y="3689437"/>
                    <a:ext cx="369697" cy="33815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14894" b="-23256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2" name="Text Box 1">
                    <a:extLst>
                      <a:ext uri="{FF2B5EF4-FFF2-40B4-BE49-F238E27FC236}">
                        <a16:creationId xmlns:a16="http://schemas.microsoft.com/office/drawing/2014/main" id="{8407A02C-7463-C9B5-4934-2A646C91D1D3}"/>
                      </a:ext>
                    </a:extLst>
                  </p:cNvPr>
                  <p:cNvSpPr txBox="1"/>
                  <p:nvPr/>
                </p:nvSpPr>
                <p:spPr>
                  <a:xfrm>
                    <a:off x="4001789" y="3541292"/>
                    <a:ext cx="369362" cy="322444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2" name="Text Box 1">
                    <a:extLst>
                      <a:ext uri="{FF2B5EF4-FFF2-40B4-BE49-F238E27FC236}">
                        <a16:creationId xmlns:a16="http://schemas.microsoft.com/office/drawing/2014/main" id="{8407A02C-7463-C9B5-4934-2A646C91D1D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01789" y="3541292"/>
                    <a:ext cx="369362" cy="3224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r="-14894" b="-32500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3" name="Text Box 1">
                    <a:extLst>
                      <a:ext uri="{FF2B5EF4-FFF2-40B4-BE49-F238E27FC236}">
                        <a16:creationId xmlns:a16="http://schemas.microsoft.com/office/drawing/2014/main" id="{D22A8590-3D5E-9B3C-A36C-80845634718C}"/>
                      </a:ext>
                    </a:extLst>
                  </p:cNvPr>
                  <p:cNvSpPr txBox="1"/>
                  <p:nvPr/>
                </p:nvSpPr>
                <p:spPr>
                  <a:xfrm>
                    <a:off x="4381204" y="3383043"/>
                    <a:ext cx="368935" cy="32194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3" name="Text Box 1">
                    <a:extLst>
                      <a:ext uri="{FF2B5EF4-FFF2-40B4-BE49-F238E27FC236}">
                        <a16:creationId xmlns:a16="http://schemas.microsoft.com/office/drawing/2014/main" id="{D22A8590-3D5E-9B3C-A36C-8084563471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81204" y="3383043"/>
                    <a:ext cx="368935" cy="321945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15217" b="-32500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4" name="Text Box 1">
                    <a:extLst>
                      <a:ext uri="{FF2B5EF4-FFF2-40B4-BE49-F238E27FC236}">
                        <a16:creationId xmlns:a16="http://schemas.microsoft.com/office/drawing/2014/main" id="{2F68F22D-71FD-755F-054A-3938D6D129CA}"/>
                      </a:ext>
                    </a:extLst>
                  </p:cNvPr>
                  <p:cNvSpPr txBox="1"/>
                  <p:nvPr/>
                </p:nvSpPr>
                <p:spPr>
                  <a:xfrm>
                    <a:off x="137424" y="3794977"/>
                    <a:ext cx="326942" cy="32194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4" name="Text Box 1">
                    <a:extLst>
                      <a:ext uri="{FF2B5EF4-FFF2-40B4-BE49-F238E27FC236}">
                        <a16:creationId xmlns:a16="http://schemas.microsoft.com/office/drawing/2014/main" id="{2F68F22D-71FD-755F-054A-3938D6D129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7424" y="3794977"/>
                    <a:ext cx="326942" cy="32194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21429" b="-17500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5" name="Text Box 1">
                    <a:extLst>
                      <a:ext uri="{FF2B5EF4-FFF2-40B4-BE49-F238E27FC236}">
                        <a16:creationId xmlns:a16="http://schemas.microsoft.com/office/drawing/2014/main" id="{1F7F97F5-23B5-897F-FEC7-8733673A5154}"/>
                      </a:ext>
                    </a:extLst>
                  </p:cNvPr>
                  <p:cNvSpPr txBox="1"/>
                  <p:nvPr/>
                </p:nvSpPr>
                <p:spPr>
                  <a:xfrm>
                    <a:off x="3028911" y="3473689"/>
                    <a:ext cx="368935" cy="32131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5" name="Text Box 1">
                    <a:extLst>
                      <a:ext uri="{FF2B5EF4-FFF2-40B4-BE49-F238E27FC236}">
                        <a16:creationId xmlns:a16="http://schemas.microsoft.com/office/drawing/2014/main" id="{1F7F97F5-23B5-897F-FEC7-8733673A51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911" y="3473689"/>
                    <a:ext cx="368935" cy="32131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r="-8511" b="-14634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6" name="Text Box 1">
                    <a:extLst>
                      <a:ext uri="{FF2B5EF4-FFF2-40B4-BE49-F238E27FC236}">
                        <a16:creationId xmlns:a16="http://schemas.microsoft.com/office/drawing/2014/main" id="{5B1B72E2-D18B-4B17-5EE8-A716407D80EA}"/>
                      </a:ext>
                    </a:extLst>
                  </p:cNvPr>
                  <p:cNvSpPr txBox="1"/>
                  <p:nvPr/>
                </p:nvSpPr>
                <p:spPr>
                  <a:xfrm>
                    <a:off x="5032134" y="2542641"/>
                    <a:ext cx="368935" cy="32131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6" name="Text Box 1">
                    <a:extLst>
                      <a:ext uri="{FF2B5EF4-FFF2-40B4-BE49-F238E27FC236}">
                        <a16:creationId xmlns:a16="http://schemas.microsoft.com/office/drawing/2014/main" id="{5B1B72E2-D18B-4B17-5EE8-A716407D80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2134" y="2542641"/>
                    <a:ext cx="368935" cy="32131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8511" b="-17500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7" name="Text Box 1">
                    <a:extLst>
                      <a:ext uri="{FF2B5EF4-FFF2-40B4-BE49-F238E27FC236}">
                        <a16:creationId xmlns:a16="http://schemas.microsoft.com/office/drawing/2014/main" id="{BC6CE44F-E15E-BCD7-EBE1-8DA4E9AC688B}"/>
                      </a:ext>
                    </a:extLst>
                  </p:cNvPr>
                  <p:cNvSpPr txBox="1"/>
                  <p:nvPr/>
                </p:nvSpPr>
                <p:spPr>
                  <a:xfrm>
                    <a:off x="4027879" y="2621923"/>
                    <a:ext cx="368935" cy="32131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7" name="Text Box 1">
                    <a:extLst>
                      <a:ext uri="{FF2B5EF4-FFF2-40B4-BE49-F238E27FC236}">
                        <a16:creationId xmlns:a16="http://schemas.microsoft.com/office/drawing/2014/main" id="{BC6CE44F-E15E-BCD7-EBE1-8DA4E9AC68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27879" y="2621923"/>
                    <a:ext cx="368935" cy="32131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8511" b="-17500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8" name="Text Box 1">
                    <a:extLst>
                      <a:ext uri="{FF2B5EF4-FFF2-40B4-BE49-F238E27FC236}">
                        <a16:creationId xmlns:a16="http://schemas.microsoft.com/office/drawing/2014/main" id="{9148284B-5482-C6AD-D6F9-01B753408C62}"/>
                      </a:ext>
                    </a:extLst>
                  </p:cNvPr>
                  <p:cNvSpPr txBox="1"/>
                  <p:nvPr/>
                </p:nvSpPr>
                <p:spPr>
                  <a:xfrm>
                    <a:off x="1501387" y="3774173"/>
                    <a:ext cx="368935" cy="32131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8" name="Text Box 1">
                    <a:extLst>
                      <a:ext uri="{FF2B5EF4-FFF2-40B4-BE49-F238E27FC236}">
                        <a16:creationId xmlns:a16="http://schemas.microsoft.com/office/drawing/2014/main" id="{9148284B-5482-C6AD-D6F9-01B753408C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01387" y="3774173"/>
                    <a:ext cx="368935" cy="32131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r="-6383" b="-14634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9" name="Text Box 1">
                    <a:extLst>
                      <a:ext uri="{FF2B5EF4-FFF2-40B4-BE49-F238E27FC236}">
                        <a16:creationId xmlns:a16="http://schemas.microsoft.com/office/drawing/2014/main" id="{3BCC89B3-0FDF-D113-A6C0-87E482CA1057}"/>
                      </a:ext>
                    </a:extLst>
                  </p:cNvPr>
                  <p:cNvSpPr txBox="1"/>
                  <p:nvPr/>
                </p:nvSpPr>
                <p:spPr>
                  <a:xfrm>
                    <a:off x="4973993" y="2944195"/>
                    <a:ext cx="368935" cy="32067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99" name="Text Box 1">
                    <a:extLst>
                      <a:ext uri="{FF2B5EF4-FFF2-40B4-BE49-F238E27FC236}">
                        <a16:creationId xmlns:a16="http://schemas.microsoft.com/office/drawing/2014/main" id="{3BCC89B3-0FDF-D113-A6C0-87E482CA105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3993" y="2944195"/>
                    <a:ext cx="368935" cy="32067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6522" b="-14634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0" name="Text Box 1">
                    <a:extLst>
                      <a:ext uri="{FF2B5EF4-FFF2-40B4-BE49-F238E27FC236}">
                        <a16:creationId xmlns:a16="http://schemas.microsoft.com/office/drawing/2014/main" id="{D9A9D506-9E5B-3EEC-9DA7-5DEBD93F5686}"/>
                      </a:ext>
                    </a:extLst>
                  </p:cNvPr>
                  <p:cNvSpPr txBox="1"/>
                  <p:nvPr/>
                </p:nvSpPr>
                <p:spPr>
                  <a:xfrm>
                    <a:off x="3826813" y="3171343"/>
                    <a:ext cx="368935" cy="32067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100" name="Text Box 1">
                    <a:extLst>
                      <a:ext uri="{FF2B5EF4-FFF2-40B4-BE49-F238E27FC236}">
                        <a16:creationId xmlns:a16="http://schemas.microsoft.com/office/drawing/2014/main" id="{D9A9D506-9E5B-3EEC-9DA7-5DEBD93F568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26813" y="3171343"/>
                    <a:ext cx="368935" cy="320675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6522" b="-14634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1" name="Text Box 1">
                    <a:extLst>
                      <a:ext uri="{FF2B5EF4-FFF2-40B4-BE49-F238E27FC236}">
                        <a16:creationId xmlns:a16="http://schemas.microsoft.com/office/drawing/2014/main" id="{FC7ED4CE-5374-02F0-35A0-81B491ADDEAE}"/>
                      </a:ext>
                    </a:extLst>
                  </p:cNvPr>
                  <p:cNvSpPr txBox="1"/>
                  <p:nvPr/>
                </p:nvSpPr>
                <p:spPr>
                  <a:xfrm>
                    <a:off x="4107163" y="3055338"/>
                    <a:ext cx="368935" cy="320675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</m:ctrlPr>
                            </m:sSubPr>
                            <m:e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sq-AL" sz="1400" i="1">
                                  <a:solidFill>
                                    <a:srgbClr val="20E859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MS Mincho" panose="02020609040205080304" pitchFamily="49" charset="-128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101" name="Text Box 1">
                    <a:extLst>
                      <a:ext uri="{FF2B5EF4-FFF2-40B4-BE49-F238E27FC236}">
                        <a16:creationId xmlns:a16="http://schemas.microsoft.com/office/drawing/2014/main" id="{FC7ED4CE-5374-02F0-35A0-81B491ADDE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7163" y="3055338"/>
                    <a:ext cx="368935" cy="320675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r="-6383" b="-14634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2" name="Text Box 1">
                    <a:extLst>
                      <a:ext uri="{FF2B5EF4-FFF2-40B4-BE49-F238E27FC236}">
                        <a16:creationId xmlns:a16="http://schemas.microsoft.com/office/drawing/2014/main" id="{B54D7731-4285-E346-0B2F-956816B584CE}"/>
                      </a:ext>
                    </a:extLst>
                  </p:cNvPr>
                  <p:cNvSpPr txBox="1"/>
                  <p:nvPr/>
                </p:nvSpPr>
                <p:spPr>
                  <a:xfrm>
                    <a:off x="3420042" y="2220214"/>
                    <a:ext cx="401410" cy="390847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txBody>
                  <a:bodyPr rot="0" spcFirstLastPara="0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sq-AL" sz="1800" i="1">
                              <a:solidFill>
                                <a:srgbClr val="FF01D5"/>
                              </a:solidFill>
                              <a:effectLst/>
                              <a:latin typeface="Cambria Math" panose="02040503050406030204" pitchFamily="18" charset="0"/>
                              <a:ea typeface="MS Mincho" panose="02020609040205080304" pitchFamily="49" charset="-128"/>
                            </a:rPr>
                            <m:t>𝐺</m:t>
                          </m:r>
                        </m:oMath>
                      </m:oMathPara>
                    </a14:m>
                    <a:endParaRPr lang="en-US" sz="1200">
                      <a:effectLst/>
                      <a:latin typeface="Times New Roman" panose="02020603050405020304" pitchFamily="18" charset="0"/>
                      <a:ea typeface="MS Mincho" panose="02020609040205080304" pitchFamily="49" charset="-128"/>
                    </a:endParaRPr>
                  </a:p>
                </p:txBody>
              </p:sp>
            </mc:Choice>
            <mc:Fallback>
              <p:sp>
                <p:nvSpPr>
                  <p:cNvPr id="102" name="Text Box 1">
                    <a:extLst>
                      <a:ext uri="{FF2B5EF4-FFF2-40B4-BE49-F238E27FC236}">
                        <a16:creationId xmlns:a16="http://schemas.microsoft.com/office/drawing/2014/main" id="{B54D7731-4285-E346-0B2F-956816B584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20042" y="2220214"/>
                    <a:ext cx="401410" cy="390847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4000" b="-16327"/>
                    </a:stretch>
                  </a:blipFill>
                  <a:ln w="635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5491913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545A1-6B5C-51B6-B23A-061D488F7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25B25-200B-7C8F-A800-57BBA3686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EB6B10D-542E-88FC-C953-263A555FBA3F}"/>
              </a:ext>
            </a:extLst>
          </p:cNvPr>
          <p:cNvGrpSpPr/>
          <p:nvPr/>
        </p:nvGrpSpPr>
        <p:grpSpPr>
          <a:xfrm>
            <a:off x="5158556" y="1601236"/>
            <a:ext cx="7583186" cy="4476648"/>
            <a:chOff x="0" y="5053173"/>
            <a:chExt cx="5718175" cy="337604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E4111E-F144-9EC5-1A49-825D40B46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biLevel thresh="50000"/>
              <a:alphaModFix amt="2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053173"/>
              <a:ext cx="5718175" cy="3376042"/>
            </a:xfrm>
            <a:prstGeom prst="rect">
              <a:avLst/>
            </a:prstGeom>
            <a:effectLst>
              <a:glow>
                <a:schemeClr val="accent1"/>
              </a:glow>
            </a:effectLst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CCB4B33-3688-C8A2-33DD-8226CF99C647}"/>
                </a:ext>
              </a:extLst>
            </p:cNvPr>
            <p:cNvCxnSpPr/>
            <p:nvPr/>
          </p:nvCxnSpPr>
          <p:spPr>
            <a:xfrm flipH="1" flipV="1">
              <a:off x="935833" y="5645258"/>
              <a:ext cx="0" cy="36576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BC51002-B6AC-1AD2-69AB-E5934E7F0C82}"/>
                </a:ext>
              </a:extLst>
            </p:cNvPr>
            <p:cNvCxnSpPr/>
            <p:nvPr/>
          </p:nvCxnSpPr>
          <p:spPr>
            <a:xfrm flipH="1" flipV="1">
              <a:off x="3234861" y="5813944"/>
              <a:ext cx="0" cy="365125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088D1725-DFAB-05EC-CD0C-7FBE7BB190D9}"/>
                </a:ext>
              </a:extLst>
            </p:cNvPr>
            <p:cNvCxnSpPr/>
            <p:nvPr/>
          </p:nvCxnSpPr>
          <p:spPr>
            <a:xfrm flipH="1" flipV="1">
              <a:off x="3853560" y="5787516"/>
              <a:ext cx="0" cy="365125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92163CEB-E715-9F9B-51FE-6F45FF64386C}"/>
                </a:ext>
              </a:extLst>
            </p:cNvPr>
            <p:cNvCxnSpPr/>
            <p:nvPr/>
          </p:nvCxnSpPr>
          <p:spPr>
            <a:xfrm flipH="1" flipV="1">
              <a:off x="4482250" y="5787517"/>
              <a:ext cx="0" cy="365125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666D313A-4309-1881-DBB8-F5BB067A1764}"/>
                </a:ext>
              </a:extLst>
            </p:cNvPr>
            <p:cNvCxnSpPr/>
            <p:nvPr/>
          </p:nvCxnSpPr>
          <p:spPr>
            <a:xfrm flipV="1">
              <a:off x="570073" y="5655377"/>
              <a:ext cx="365760" cy="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4E62FD38-A329-AD37-B4F4-5C0AE1C8D7B6}"/>
                </a:ext>
              </a:extLst>
            </p:cNvPr>
            <p:cNvCxnSpPr/>
            <p:nvPr/>
          </p:nvCxnSpPr>
          <p:spPr>
            <a:xfrm flipV="1">
              <a:off x="2816244" y="5808247"/>
              <a:ext cx="365760" cy="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ED71D3D-0C78-65BD-A210-5B4980A51DE5}"/>
                </a:ext>
              </a:extLst>
            </p:cNvPr>
            <p:cNvCxnSpPr/>
            <p:nvPr/>
          </p:nvCxnSpPr>
          <p:spPr>
            <a:xfrm flipH="1" flipV="1">
              <a:off x="4491764" y="5786742"/>
              <a:ext cx="365760" cy="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0F53BC6E-B442-99CA-05BF-FA744E6531D8}"/>
                </a:ext>
              </a:extLst>
            </p:cNvPr>
            <p:cNvCxnSpPr/>
            <p:nvPr/>
          </p:nvCxnSpPr>
          <p:spPr>
            <a:xfrm flipH="1" flipV="1">
              <a:off x="3864027" y="5786748"/>
              <a:ext cx="365760" cy="0"/>
            </a:xfrm>
            <a:prstGeom prst="straightConnector1">
              <a:avLst/>
            </a:prstGeom>
            <a:ln w="28575">
              <a:solidFill>
                <a:srgbClr val="17DF50"/>
              </a:solidFill>
              <a:tailEnd type="triangle"/>
            </a:ln>
            <a:effectLst>
              <a:glow rad="38100">
                <a:srgbClr val="20E859">
                  <a:alpha val="2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 Box 1">
                  <a:extLst>
                    <a:ext uri="{FF2B5EF4-FFF2-40B4-BE49-F238E27FC236}">
                      <a16:creationId xmlns:a16="http://schemas.microsoft.com/office/drawing/2014/main" id="{00BC8616-7322-C595-6CB6-384E8DD5AF19}"/>
                    </a:ext>
                  </a:extLst>
                </p:cNvPr>
                <p:cNvSpPr txBox="1"/>
                <p:nvPr/>
              </p:nvSpPr>
              <p:spPr>
                <a:xfrm>
                  <a:off x="586986" y="6010596"/>
                  <a:ext cx="359127" cy="289779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47" name="Text Box 1">
                  <a:extLst>
                    <a:ext uri="{FF2B5EF4-FFF2-40B4-BE49-F238E27FC236}">
                      <a16:creationId xmlns:a16="http://schemas.microsoft.com/office/drawing/2014/main" id="{00BC8616-7322-C595-6CB6-384E8DD5AF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6986" y="6010596"/>
                  <a:ext cx="359127" cy="28977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 Box 1">
                  <a:extLst>
                    <a:ext uri="{FF2B5EF4-FFF2-40B4-BE49-F238E27FC236}">
                      <a16:creationId xmlns:a16="http://schemas.microsoft.com/office/drawing/2014/main" id="{922083F3-F01C-B8D6-89A7-01DE0E2D4E9C}"/>
                    </a:ext>
                  </a:extLst>
                </p:cNvPr>
                <p:cNvSpPr txBox="1"/>
                <p:nvPr/>
              </p:nvSpPr>
              <p:spPr>
                <a:xfrm>
                  <a:off x="2948837" y="6033658"/>
                  <a:ext cx="358775" cy="384233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48" name="Text Box 1">
                  <a:extLst>
                    <a:ext uri="{FF2B5EF4-FFF2-40B4-BE49-F238E27FC236}">
                      <a16:creationId xmlns:a16="http://schemas.microsoft.com/office/drawing/2014/main" id="{922083F3-F01C-B8D6-89A7-01DE0E2D4E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8837" y="6033658"/>
                  <a:ext cx="358775" cy="38423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 Box 1">
                  <a:extLst>
                    <a:ext uri="{FF2B5EF4-FFF2-40B4-BE49-F238E27FC236}">
                      <a16:creationId xmlns:a16="http://schemas.microsoft.com/office/drawing/2014/main" id="{29B3AF59-DF8A-FBC7-6779-92DE8E1C170C}"/>
                    </a:ext>
                  </a:extLst>
                </p:cNvPr>
                <p:cNvSpPr txBox="1"/>
                <p:nvPr/>
              </p:nvSpPr>
              <p:spPr>
                <a:xfrm>
                  <a:off x="3683776" y="6068052"/>
                  <a:ext cx="358775" cy="3841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49" name="Text Box 1">
                  <a:extLst>
                    <a:ext uri="{FF2B5EF4-FFF2-40B4-BE49-F238E27FC236}">
                      <a16:creationId xmlns:a16="http://schemas.microsoft.com/office/drawing/2014/main" id="{29B3AF59-DF8A-FBC7-6779-92DE8E1C17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3776" y="6068052"/>
                  <a:ext cx="358775" cy="3841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Text Box 1">
                  <a:extLst>
                    <a:ext uri="{FF2B5EF4-FFF2-40B4-BE49-F238E27FC236}">
                      <a16:creationId xmlns:a16="http://schemas.microsoft.com/office/drawing/2014/main" id="{82E722ED-9417-8385-D71E-FB24261909AA}"/>
                    </a:ext>
                  </a:extLst>
                </p:cNvPr>
                <p:cNvSpPr txBox="1"/>
                <p:nvPr/>
              </p:nvSpPr>
              <p:spPr>
                <a:xfrm>
                  <a:off x="4427259" y="5948412"/>
                  <a:ext cx="358775" cy="3841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0" name="Text Box 1">
                  <a:extLst>
                    <a:ext uri="{FF2B5EF4-FFF2-40B4-BE49-F238E27FC236}">
                      <a16:creationId xmlns:a16="http://schemas.microsoft.com/office/drawing/2014/main" id="{82E722ED-9417-8385-D71E-FB24261909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27259" y="5948412"/>
                  <a:ext cx="358775" cy="3841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 Box 1">
                  <a:extLst>
                    <a:ext uri="{FF2B5EF4-FFF2-40B4-BE49-F238E27FC236}">
                      <a16:creationId xmlns:a16="http://schemas.microsoft.com/office/drawing/2014/main" id="{456C7D24-209A-D687-3A53-AF23ACF4651C}"/>
                    </a:ext>
                  </a:extLst>
                </p:cNvPr>
                <p:cNvSpPr txBox="1"/>
                <p:nvPr/>
              </p:nvSpPr>
              <p:spPr>
                <a:xfrm>
                  <a:off x="479103" y="5598033"/>
                  <a:ext cx="326390" cy="321310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1" name="Text Box 1">
                  <a:extLst>
                    <a:ext uri="{FF2B5EF4-FFF2-40B4-BE49-F238E27FC236}">
                      <a16:creationId xmlns:a16="http://schemas.microsoft.com/office/drawing/2014/main" id="{456C7D24-209A-D687-3A53-AF23ACF465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103" y="5598033"/>
                  <a:ext cx="326390" cy="3213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 Box 1">
                  <a:extLst>
                    <a:ext uri="{FF2B5EF4-FFF2-40B4-BE49-F238E27FC236}">
                      <a16:creationId xmlns:a16="http://schemas.microsoft.com/office/drawing/2014/main" id="{0E4CE043-F77E-78F0-C310-BA6A1D513525}"/>
                    </a:ext>
                  </a:extLst>
                </p:cNvPr>
                <p:cNvSpPr txBox="1"/>
                <p:nvPr/>
              </p:nvSpPr>
              <p:spPr>
                <a:xfrm>
                  <a:off x="2692464" y="5504030"/>
                  <a:ext cx="326390" cy="3206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2" name="Text Box 1">
                  <a:extLst>
                    <a:ext uri="{FF2B5EF4-FFF2-40B4-BE49-F238E27FC236}">
                      <a16:creationId xmlns:a16="http://schemas.microsoft.com/office/drawing/2014/main" id="{0E4CE043-F77E-78F0-C310-BA6A1D5135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2464" y="5504030"/>
                  <a:ext cx="326390" cy="32067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 Box 1">
                  <a:extLst>
                    <a:ext uri="{FF2B5EF4-FFF2-40B4-BE49-F238E27FC236}">
                      <a16:creationId xmlns:a16="http://schemas.microsoft.com/office/drawing/2014/main" id="{7F134ACA-E408-06C0-00F3-A16FF08BCF72}"/>
                    </a:ext>
                  </a:extLst>
                </p:cNvPr>
                <p:cNvSpPr txBox="1"/>
                <p:nvPr/>
              </p:nvSpPr>
              <p:spPr>
                <a:xfrm>
                  <a:off x="4820367" y="5538213"/>
                  <a:ext cx="326390" cy="3206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3" name="Text Box 1">
                  <a:extLst>
                    <a:ext uri="{FF2B5EF4-FFF2-40B4-BE49-F238E27FC236}">
                      <a16:creationId xmlns:a16="http://schemas.microsoft.com/office/drawing/2014/main" id="{7F134ACA-E408-06C0-00F3-A16FF08BC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20367" y="5538213"/>
                  <a:ext cx="326390" cy="3206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 Box 1">
                  <a:extLst>
                    <a:ext uri="{FF2B5EF4-FFF2-40B4-BE49-F238E27FC236}">
                      <a16:creationId xmlns:a16="http://schemas.microsoft.com/office/drawing/2014/main" id="{CBC43DD4-3826-B3F2-082A-65DB25E886E7}"/>
                    </a:ext>
                  </a:extLst>
                </p:cNvPr>
                <p:cNvSpPr txBox="1"/>
                <p:nvPr/>
              </p:nvSpPr>
              <p:spPr>
                <a:xfrm>
                  <a:off x="3923058" y="5521121"/>
                  <a:ext cx="326390" cy="320675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</m:ctrlPr>
                          </m:sSubPr>
                          <m:e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𝑅</m:t>
                            </m:r>
                          </m:e>
                          <m:sub>
                            <m:r>
                              <a:rPr lang="sq-AL" sz="1200" i="1">
                                <a:solidFill>
                                  <a:srgbClr val="20E859"/>
                                </a:solidFill>
                                <a:effectLst/>
                                <a:latin typeface="Cambria Math" panose="02040503050406030204" pitchFamily="18" charset="0"/>
                                <a:ea typeface="MS Mincho" panose="02020609040205080304" pitchFamily="49" charset="-128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4" name="Text Box 1">
                  <a:extLst>
                    <a:ext uri="{FF2B5EF4-FFF2-40B4-BE49-F238E27FC236}">
                      <a16:creationId xmlns:a16="http://schemas.microsoft.com/office/drawing/2014/main" id="{CBC43DD4-3826-B3F2-082A-65DB25E88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058" y="5521121"/>
                  <a:ext cx="326390" cy="3206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E33DA2D-F71C-038F-53AC-469FD66F6130}"/>
                </a:ext>
              </a:extLst>
            </p:cNvPr>
            <p:cNvSpPr/>
            <p:nvPr/>
          </p:nvSpPr>
          <p:spPr>
            <a:xfrm>
              <a:off x="1244600" y="5238750"/>
              <a:ext cx="3473450" cy="273050"/>
            </a:xfrm>
            <a:prstGeom prst="rect">
              <a:avLst/>
            </a:prstGeom>
            <a:pattFill prst="ltVert">
              <a:fgClr>
                <a:srgbClr val="FF01D5"/>
              </a:fgClr>
              <a:bgClr>
                <a:schemeClr val="bg1"/>
              </a:bgClr>
            </a:pattFill>
            <a:ln w="19050">
              <a:solidFill>
                <a:srgbClr val="FF01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96B6342C-8857-7503-A0A1-1A6611B83778}"/>
                </a:ext>
              </a:extLst>
            </p:cNvPr>
            <p:cNvCxnSpPr/>
            <p:nvPr/>
          </p:nvCxnSpPr>
          <p:spPr>
            <a:xfrm>
              <a:off x="3039324" y="5376572"/>
              <a:ext cx="0" cy="274320"/>
            </a:xfrm>
            <a:prstGeom prst="straightConnector1">
              <a:avLst/>
            </a:prstGeom>
            <a:ln w="28575">
              <a:solidFill>
                <a:srgbClr val="FF01D5"/>
              </a:solidFill>
              <a:tailEnd type="triangle"/>
            </a:ln>
            <a:effectLst>
              <a:glow rad="38100">
                <a:srgbClr val="FF01D5">
                  <a:alpha val="20000"/>
                </a:srgbClr>
              </a:glow>
            </a:effectLst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0C085D38-BF11-569C-6C3A-E7A250A87E43}"/>
                </a:ext>
              </a:extLst>
            </p:cNvPr>
            <p:cNvCxnSpPr/>
            <p:nvPr/>
          </p:nvCxnSpPr>
          <p:spPr>
            <a:xfrm>
              <a:off x="1244600" y="5238567"/>
              <a:ext cx="3473450" cy="265271"/>
            </a:xfrm>
            <a:prstGeom prst="line">
              <a:avLst/>
            </a:prstGeom>
            <a:ln>
              <a:solidFill>
                <a:srgbClr val="FF01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02A5C347-76F5-872B-9B87-D5580712CD85}"/>
                </a:ext>
              </a:extLst>
            </p:cNvPr>
            <p:cNvCxnSpPr/>
            <p:nvPr/>
          </p:nvCxnSpPr>
          <p:spPr>
            <a:xfrm flipV="1">
              <a:off x="1244600" y="5244935"/>
              <a:ext cx="3477821" cy="266672"/>
            </a:xfrm>
            <a:prstGeom prst="line">
              <a:avLst/>
            </a:prstGeom>
            <a:ln>
              <a:solidFill>
                <a:srgbClr val="FF01D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 Box 1">
                  <a:extLst>
                    <a:ext uri="{FF2B5EF4-FFF2-40B4-BE49-F238E27FC236}">
                      <a16:creationId xmlns:a16="http://schemas.microsoft.com/office/drawing/2014/main" id="{444C23EA-C499-F119-7E43-AC520D886DCA}"/>
                    </a:ext>
                  </a:extLst>
                </p:cNvPr>
                <p:cNvSpPr txBox="1"/>
                <p:nvPr/>
              </p:nvSpPr>
              <p:spPr>
                <a:xfrm>
                  <a:off x="2933004" y="5511605"/>
                  <a:ext cx="324794" cy="267648"/>
                </a:xfrm>
                <a:prstGeom prst="rect">
                  <a:avLst/>
                </a:prstGeom>
                <a:noFill/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sq-AL" sz="1200" i="1">
                            <a:solidFill>
                              <a:srgbClr val="FF01D5"/>
                            </a:solidFill>
                            <a:effectLst/>
                            <a:latin typeface="Cambria Math" panose="02040503050406030204" pitchFamily="18" charset="0"/>
                            <a:ea typeface="MS Mincho" panose="02020609040205080304" pitchFamily="49" charset="-128"/>
                          </a:rPr>
                          <m:t>𝐺</m:t>
                        </m:r>
                      </m:oMath>
                    </m:oMathPara>
                  </a14:m>
                  <a:endParaRPr lang="en-US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endParaRPr>
                </a:p>
              </p:txBody>
            </p:sp>
          </mc:Choice>
          <mc:Fallback>
            <p:sp>
              <p:nvSpPr>
                <p:cNvPr id="59" name="Text Box 1">
                  <a:extLst>
                    <a:ext uri="{FF2B5EF4-FFF2-40B4-BE49-F238E27FC236}">
                      <a16:creationId xmlns:a16="http://schemas.microsoft.com/office/drawing/2014/main" id="{444C23EA-C499-F119-7E43-AC520D886D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004" y="5511605"/>
                  <a:ext cx="324794" cy="267648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E904484-B1D1-1222-5954-C44399FCB4FE}"/>
                </a:ext>
              </a:extLst>
            </p:cNvPr>
            <p:cNvSpPr/>
            <p:nvPr/>
          </p:nvSpPr>
          <p:spPr>
            <a:xfrm>
              <a:off x="612151" y="7326166"/>
              <a:ext cx="700459" cy="59018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CAC57A8A-5AF2-FD39-268A-F56CB9371567}"/>
                </a:ext>
              </a:extLst>
            </p:cNvPr>
            <p:cNvGrpSpPr/>
            <p:nvPr/>
          </p:nvGrpSpPr>
          <p:grpSpPr>
            <a:xfrm>
              <a:off x="1212395" y="6937422"/>
              <a:ext cx="3498141" cy="1375063"/>
              <a:chOff x="1212395" y="6937422"/>
              <a:chExt cx="3498141" cy="1375063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E68A9FED-C895-327A-1AAD-A092482BCAB1}"/>
                  </a:ext>
                </a:extLst>
              </p:cNvPr>
              <p:cNvSpPr/>
              <p:nvPr/>
            </p:nvSpPr>
            <p:spPr>
              <a:xfrm>
                <a:off x="4545656" y="6937422"/>
                <a:ext cx="119861" cy="1375063"/>
              </a:xfrm>
              <a:prstGeom prst="rect">
                <a:avLst/>
              </a:prstGeom>
              <a:pattFill prst="ltUpDiag">
                <a:fgClr>
                  <a:srgbClr val="FF01D5"/>
                </a:fgClr>
                <a:bgClr>
                  <a:schemeClr val="bg1"/>
                </a:bgClr>
              </a:pattFill>
              <a:ln>
                <a:solidFill>
                  <a:srgbClr val="FF01D5"/>
                </a:solidFill>
              </a:ln>
              <a:effectLst>
                <a:glow>
                  <a:schemeClr val="accent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B9348A87-490A-DB6B-E104-D9D05E83EBFD}"/>
                  </a:ext>
                </a:extLst>
              </p:cNvPr>
              <p:cNvSpPr/>
              <p:nvPr/>
            </p:nvSpPr>
            <p:spPr>
              <a:xfrm>
                <a:off x="1312610" y="6937672"/>
                <a:ext cx="119380" cy="1374775"/>
              </a:xfrm>
              <a:prstGeom prst="rect">
                <a:avLst/>
              </a:prstGeom>
              <a:pattFill prst="ltUpDiag">
                <a:fgClr>
                  <a:srgbClr val="FF01D5"/>
                </a:fgClr>
                <a:bgClr>
                  <a:schemeClr val="bg1"/>
                </a:bgClr>
              </a:pattFill>
              <a:ln>
                <a:solidFill>
                  <a:srgbClr val="FF01D5"/>
                </a:solidFill>
              </a:ln>
              <a:effectLst>
                <a:glow>
                  <a:schemeClr val="accent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82ADF0D-8C17-E3BC-6FB9-7DD91EFF1F05}"/>
                  </a:ext>
                </a:extLst>
              </p:cNvPr>
              <p:cNvSpPr/>
              <p:nvPr/>
            </p:nvSpPr>
            <p:spPr>
              <a:xfrm>
                <a:off x="1212395" y="7326677"/>
                <a:ext cx="3494315" cy="73190"/>
              </a:xfrm>
              <a:prstGeom prst="rect">
                <a:avLst/>
              </a:prstGeom>
              <a:pattFill prst="ltUpDiag">
                <a:fgClr>
                  <a:srgbClr val="FF01D5"/>
                </a:fgClr>
                <a:bgClr>
                  <a:schemeClr val="bg1"/>
                </a:bgClr>
              </a:pattFill>
              <a:ln>
                <a:solidFill>
                  <a:srgbClr val="FF01D5"/>
                </a:solidFill>
              </a:ln>
              <a:effectLst>
                <a:glow>
                  <a:schemeClr val="accent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2E6FC35-0B33-43DB-C43A-6BE41D38A7A4}"/>
                  </a:ext>
                </a:extLst>
              </p:cNvPr>
              <p:cNvSpPr/>
              <p:nvPr/>
            </p:nvSpPr>
            <p:spPr>
              <a:xfrm>
                <a:off x="1216766" y="7843598"/>
                <a:ext cx="3493770" cy="73025"/>
              </a:xfrm>
              <a:prstGeom prst="rect">
                <a:avLst/>
              </a:prstGeom>
              <a:pattFill prst="ltUpDiag">
                <a:fgClr>
                  <a:srgbClr val="FF01D5"/>
                </a:fgClr>
                <a:bgClr>
                  <a:schemeClr val="bg1"/>
                </a:bgClr>
              </a:pattFill>
              <a:ln>
                <a:solidFill>
                  <a:srgbClr val="FF01D5"/>
                </a:solidFill>
              </a:ln>
              <a:effectLst>
                <a:glow>
                  <a:schemeClr val="accent1"/>
                </a:glo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/>
                <a:r>
                  <a:rPr lang="sq-AL" sz="1200">
                    <a:effectLst/>
                    <a:latin typeface="Times New Roman" panose="02020603050405020304" pitchFamily="18" charset="0"/>
                    <a:ea typeface="MS Mincho" panose="02020609040205080304" pitchFamily="49" charset="-128"/>
                  </a:rPr>
                  <a:t>s</a:t>
                </a:r>
                <a:endParaRPr lang="en-US" sz="1200">
                  <a:effectLst/>
                  <a:latin typeface="Times New Roman" panose="02020603050405020304" pitchFamily="18" charset="0"/>
                  <a:ea typeface="MS Mincho" panose="02020609040205080304" pitchFamily="49" charset="-128"/>
                </a:endParaRPr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57BAEA8-91FD-6AAC-95EA-9FA4CBD72C7C}"/>
                </a:ext>
              </a:extLst>
            </p:cNvPr>
            <p:cNvSpPr/>
            <p:nvPr/>
          </p:nvSpPr>
          <p:spPr>
            <a:xfrm>
              <a:off x="3182004" y="7843324"/>
              <a:ext cx="88781" cy="72746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85D1129-8C50-C69A-5A13-C2EBD53C933F}"/>
                </a:ext>
              </a:extLst>
            </p:cNvPr>
            <p:cNvSpPr/>
            <p:nvPr/>
          </p:nvSpPr>
          <p:spPr>
            <a:xfrm>
              <a:off x="3800764" y="7843822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DFA407E4-813B-1FFA-09D7-5C387242DDAB}"/>
                </a:ext>
              </a:extLst>
            </p:cNvPr>
            <p:cNvSpPr/>
            <p:nvPr/>
          </p:nvSpPr>
          <p:spPr>
            <a:xfrm>
              <a:off x="4340539" y="7844348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83FDCA22-0255-E3AB-D9D6-35DE60917612}"/>
                </a:ext>
              </a:extLst>
            </p:cNvPr>
            <p:cNvSpPr/>
            <p:nvPr/>
          </p:nvSpPr>
          <p:spPr>
            <a:xfrm>
              <a:off x="3184773" y="7327398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3257AB5-B310-C810-8C90-802068DDF449}"/>
                </a:ext>
              </a:extLst>
            </p:cNvPr>
            <p:cNvSpPr/>
            <p:nvPr/>
          </p:nvSpPr>
          <p:spPr>
            <a:xfrm>
              <a:off x="3807687" y="7327476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203CAAE-E7AD-C701-7900-F755EED8DBC6}"/>
                </a:ext>
              </a:extLst>
            </p:cNvPr>
            <p:cNvSpPr/>
            <p:nvPr/>
          </p:nvSpPr>
          <p:spPr>
            <a:xfrm>
              <a:off x="4344904" y="7327476"/>
              <a:ext cx="88265" cy="72390"/>
            </a:xfrm>
            <a:prstGeom prst="rect">
              <a:avLst/>
            </a:prstGeom>
            <a:pattFill prst="ltDnDiag">
              <a:fgClr>
                <a:srgbClr val="17DF50"/>
              </a:fgClr>
              <a:bgClr>
                <a:schemeClr val="bg1"/>
              </a:bgClr>
            </a:pattFill>
            <a:ln>
              <a:solidFill>
                <a:srgbClr val="17DF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pic>
        <p:nvPicPr>
          <p:cNvPr id="5" name="Picture 4" descr="A computer screen shot of a computer generated image&#10;&#10;Description automatically generated">
            <a:extLst>
              <a:ext uri="{FF2B5EF4-FFF2-40B4-BE49-F238E27FC236}">
                <a16:creationId xmlns:a16="http://schemas.microsoft.com/office/drawing/2014/main" id="{381C5129-61CA-2AC5-847E-95BC4F410E9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65" y="2457009"/>
            <a:ext cx="5201737" cy="2795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17936F-6BEC-E6B1-F477-85A9872D20B8}"/>
              </a:ext>
            </a:extLst>
          </p:cNvPr>
          <p:cNvSpPr txBox="1"/>
          <p:nvPr/>
        </p:nvSpPr>
        <p:spPr>
          <a:xfrm>
            <a:off x="-66181" y="5180134"/>
            <a:ext cx="552278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25. Caktimi i çernierave “Fixed Geometry” në modelin 3D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43571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CDD32-3D93-7178-8FBF-1F633F45B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248E-22F4-904A-3E5A-1E9E6730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omputer screen shot of a computer generated image&#10;&#10;Description automatically generated">
            <a:extLst>
              <a:ext uri="{FF2B5EF4-FFF2-40B4-BE49-F238E27FC236}">
                <a16:creationId xmlns:a16="http://schemas.microsoft.com/office/drawing/2014/main" id="{EC0913DE-7E0B-D093-B871-EC7D7E457A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65" y="2457009"/>
            <a:ext cx="5201737" cy="27956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A55D94-F28D-D7BF-8F13-265C78291E18}"/>
              </a:ext>
            </a:extLst>
          </p:cNvPr>
          <p:cNvSpPr txBox="1"/>
          <p:nvPr/>
        </p:nvSpPr>
        <p:spPr>
          <a:xfrm>
            <a:off x="-66181" y="5180134"/>
            <a:ext cx="552278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25. Caktimi i çernierave “Fixed Geometry” në modelin 3D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BE38C377-9775-2984-82E8-A1583D18D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6601" y="2807204"/>
            <a:ext cx="6627298" cy="2095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3B8DA6-78EB-D1C7-1CB0-AE5DA892F949}"/>
              </a:ext>
            </a:extLst>
          </p:cNvPr>
          <p:cNvSpPr txBox="1"/>
          <p:nvPr/>
        </p:nvSpPr>
        <p:spPr>
          <a:xfrm>
            <a:off x="5706038" y="4902740"/>
            <a:ext cx="612842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Tab 1. Çernierat e caktuara në model</a:t>
            </a:r>
            <a:endParaRPr lang="en-US" sz="12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3872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07002-22EF-BF62-3750-B6F776ED5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ED9F6-FFFE-5625-339E-A09EAC23F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0F711B-E42B-23D9-A181-97B83396A1AF}"/>
              </a:ext>
            </a:extLst>
          </p:cNvPr>
          <p:cNvSpPr txBox="1"/>
          <p:nvPr/>
        </p:nvSpPr>
        <p:spPr>
          <a:xfrm>
            <a:off x="-41911" y="5225917"/>
            <a:ext cx="61138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26. Caktimi i ngarkesës “Gravity”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337327-0FA0-2F64-C36C-CB22E8ED38A1}"/>
              </a:ext>
            </a:extLst>
          </p:cNvPr>
          <p:cNvSpPr txBox="1"/>
          <p:nvPr/>
        </p:nvSpPr>
        <p:spPr>
          <a:xfrm>
            <a:off x="6120079" y="5169276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27. Caktimi i ngarkesës “Force/Torque”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3" name="Picture 2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02B6AEEA-0D9B-3CD1-4326-98F771BE61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8" y="2107253"/>
            <a:ext cx="5731510" cy="3074670"/>
          </a:xfrm>
          <a:prstGeom prst="rect">
            <a:avLst/>
          </a:prstGeom>
        </p:spPr>
      </p:pic>
      <p:pic>
        <p:nvPicPr>
          <p:cNvPr id="4" name="Picture 3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399B708D-827C-5E4E-3361-3C3188F9329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44" y="2095188"/>
            <a:ext cx="5731510" cy="308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391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DD6F3-5ECE-4D3B-E4C7-1A2404AC2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9C08-0FA3-71C1-4581-9DF24BF83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99BC5-2BD8-7D11-D9AA-F5620363E3CB}"/>
              </a:ext>
            </a:extLst>
          </p:cNvPr>
          <p:cNvSpPr txBox="1"/>
          <p:nvPr/>
        </p:nvSpPr>
        <p:spPr>
          <a:xfrm>
            <a:off x="1" y="5169276"/>
            <a:ext cx="12192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Tab 2. Rezultantet e ngarkesave të aplikuara në modelin 3D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58380A5D-EB52-C44A-1185-8528C5374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04" y="1504753"/>
            <a:ext cx="9097750" cy="351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5173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57A44-82A2-E1B6-D92B-0BF665CA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BC7F2-C5C6-A7C5-DD2B-236AF19A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CF9ED3-9C22-F7DA-462E-0DF060072267}"/>
              </a:ext>
            </a:extLst>
          </p:cNvPr>
          <p:cNvSpPr txBox="1"/>
          <p:nvPr/>
        </p:nvSpPr>
        <p:spPr>
          <a:xfrm>
            <a:off x="-41912" y="5169276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28. Krijimi i rrjetës “Mesh” të modelit të dizajnuar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C561BF-9A2D-F32B-CC7D-9EA6963084AF}"/>
              </a:ext>
            </a:extLst>
          </p:cNvPr>
          <p:cNvSpPr txBox="1"/>
          <p:nvPr/>
        </p:nvSpPr>
        <p:spPr>
          <a:xfrm>
            <a:off x="6120079" y="5169276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29. Pamje e formimit të rrjetës “Mesh”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5" name="Picture 4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3772DAC5-2896-A091-BAFA-C77AE16A88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6" y="2088891"/>
            <a:ext cx="5731510" cy="30803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1AB6D3-A136-3420-C496-D5D7E9D050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245" y="2088891"/>
            <a:ext cx="5736985" cy="308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799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53DD-15CF-50F6-1F2D-EC411EA6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AF8E-9A6A-36E4-7A2F-C59967694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7BDEB7-6732-2FB5-CCDE-CCA449F06F63}"/>
              </a:ext>
            </a:extLst>
          </p:cNvPr>
          <p:cNvSpPr txBox="1"/>
          <p:nvPr/>
        </p:nvSpPr>
        <p:spPr>
          <a:xfrm>
            <a:off x="1" y="5169276"/>
            <a:ext cx="12192000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Tab 3. Informata për rrjetën “Mesh”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C566F3-25ED-5908-20D4-E508F2DD1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50" y="2626469"/>
            <a:ext cx="10921100" cy="234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14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EAA7D-58FE-FDF1-071B-B1598939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727D-0BE6-6831-C06E-EFD3E8792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23EEC-3035-D895-C3F9-05528FBBCB1F}"/>
              </a:ext>
            </a:extLst>
          </p:cNvPr>
          <p:cNvSpPr txBox="1"/>
          <p:nvPr/>
        </p:nvSpPr>
        <p:spPr>
          <a:xfrm>
            <a:off x="-41912" y="5169276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30. Nxjerrja e rezultateve me komandën “Run Study”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667FB-6B7C-4FDC-3F7D-A3954281BCCB}"/>
              </a:ext>
            </a:extLst>
          </p:cNvPr>
          <p:cNvSpPr txBox="1"/>
          <p:nvPr/>
        </p:nvSpPr>
        <p:spPr>
          <a:xfrm>
            <a:off x="6120079" y="5169276"/>
            <a:ext cx="611383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Fig 31. Llojet e rezultateve të fituara: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3" name="Picture 2" descr="A computer screen shot of a computer program&#10;&#10;Description automatically generated">
            <a:extLst>
              <a:ext uri="{FF2B5EF4-FFF2-40B4-BE49-F238E27FC236}">
                <a16:creationId xmlns:a16="http://schemas.microsoft.com/office/drawing/2014/main" id="{E0E79A3D-52E4-8FE3-13BA-DE074E0E92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09" y="2088891"/>
            <a:ext cx="5743148" cy="30803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7C5DFA-C352-643C-B428-E48F46F0BB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881" y="2085716"/>
            <a:ext cx="5731510" cy="308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1960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98313-4BA7-F194-7488-280FA3681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0DFF-DB5C-3D6C-11AD-E79091A60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935"/>
            <a:ext cx="10515600" cy="1325563"/>
          </a:xfrm>
        </p:spPr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94361D-6C26-5043-A02B-F65169DADE25}"/>
              </a:ext>
            </a:extLst>
          </p:cNvPr>
          <p:cNvSpPr txBox="1"/>
          <p:nvPr/>
        </p:nvSpPr>
        <p:spPr>
          <a:xfrm>
            <a:off x="0" y="6276991"/>
            <a:ext cx="12192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Tab 4. Rezultatet për sforcimet e modelit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163251-4505-0AEA-BD20-7097827B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986" y="1208941"/>
            <a:ext cx="8190027" cy="504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164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1179F-1ADB-A414-D168-F029EDDF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0CB8-06BA-9532-A6AF-A07B8B55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935"/>
            <a:ext cx="10515600" cy="1325563"/>
          </a:xfrm>
        </p:spPr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5CEDDE-2DC0-F0B6-3110-80691DB0084A}"/>
              </a:ext>
            </a:extLst>
          </p:cNvPr>
          <p:cNvSpPr txBox="1"/>
          <p:nvPr/>
        </p:nvSpPr>
        <p:spPr>
          <a:xfrm>
            <a:off x="0" y="6276991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Tab 5. Rezultatet për zhvendosjet e modelit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D1889A-3F9D-635A-582D-25FBAACB78BF}"/>
              </a:ext>
            </a:extLst>
          </p:cNvPr>
          <p:cNvGrpSpPr/>
          <p:nvPr/>
        </p:nvGrpSpPr>
        <p:grpSpPr>
          <a:xfrm>
            <a:off x="1975376" y="1186775"/>
            <a:ext cx="8228833" cy="5090216"/>
            <a:chOff x="1975376" y="1186775"/>
            <a:chExt cx="8228833" cy="5090216"/>
          </a:xfrm>
        </p:grpSpPr>
        <p:pic>
          <p:nvPicPr>
            <p:cNvPr id="3" name="Picture 2" descr="A computer generated image of a blue metal structure&#10;&#10;Description automatically generated">
              <a:extLst>
                <a:ext uri="{FF2B5EF4-FFF2-40B4-BE49-F238E27FC236}">
                  <a16:creationId xmlns:a16="http://schemas.microsoft.com/office/drawing/2014/main" id="{8BB60935-315A-5081-7C4E-2A1F6D411B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5376" y="1828899"/>
              <a:ext cx="8228833" cy="4448092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2E683A-506C-B67E-057F-DA0E44904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5733" y="1186775"/>
              <a:ext cx="8198748" cy="6518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154689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8BEB3-D075-9432-5F63-874C78B3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89A8-4779-55DF-FB87-86556015C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935"/>
            <a:ext cx="10515600" cy="1325563"/>
          </a:xfrm>
        </p:spPr>
        <p:txBody>
          <a:bodyPr/>
          <a:lstStyle/>
          <a:p>
            <a:pPr marL="857250" indent="-857250">
              <a:buFont typeface="+mj-lt"/>
              <a:buAutoNum type="romanUcPeriod" startAt="3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analizave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inxhinierike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D55DEC-A8EA-D246-EFAB-0ADBBEACBC28}"/>
              </a:ext>
            </a:extLst>
          </p:cNvPr>
          <p:cNvSpPr txBox="1"/>
          <p:nvPr/>
        </p:nvSpPr>
        <p:spPr>
          <a:xfrm>
            <a:off x="0" y="6276991"/>
            <a:ext cx="121920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spcAft>
                <a:spcPts val="1000"/>
              </a:spcAft>
            </a:pPr>
            <a:r>
              <a:rPr lang="sq-AL" sz="1800" i="1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</a:rPr>
              <a:t>Tab 6. Rezultatet për deformimet e modelit</a:t>
            </a:r>
            <a:endParaRPr lang="en-US" sz="1800" i="1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MS Mincho" panose="02020609040205080304" pitchFamily="49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64A3E9-5C8B-8384-599B-46FC4DCFC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5849" y="1090288"/>
            <a:ext cx="8376307" cy="5186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3332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070FA8-217F-0C65-1B9F-5CC64142F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1593"/>
            <a:ext cx="10515600" cy="1325563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63500" h="44450" prst="hardEdge"/>
              <a:bevelB w="82550" h="38100"/>
            </a:sp3d>
          </a:bodyPr>
          <a:lstStyle/>
          <a:p>
            <a:pPr algn="ctr"/>
            <a:r>
              <a:rPr lang="en-US" sz="8800" dirty="0">
                <a:gradFill flip="none" rotWithShape="1">
                  <a:gsLst>
                    <a:gs pos="0">
                      <a:srgbClr val="FF0000"/>
                    </a:gs>
                    <a:gs pos="59000">
                      <a:schemeClr val="accent1">
                        <a:lumMod val="81000"/>
                        <a:lumOff val="19000"/>
                      </a:schemeClr>
                    </a:gs>
                    <a:gs pos="76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2400000" scaled="0"/>
                  <a:tileRect/>
                </a:gradFill>
                <a:effectLst>
                  <a:glow rad="101600">
                    <a:schemeClr val="accent4">
                      <a:satMod val="175000"/>
                      <a:alpha val="9000"/>
                    </a:schemeClr>
                  </a:glow>
                  <a:innerShdw blurRad="63500" dist="50800" dir="13500000">
                    <a:prstClr val="black">
                      <a:alpha val="50000"/>
                    </a:prstClr>
                  </a:innerShdw>
                  <a:reflection blurRad="127000" stA="41000" endPos="50000" dist="50800" dir="5400000" sy="-100000" algn="bl" rotWithShape="0"/>
                </a:effectLst>
                <a:latin typeface="Haettenschweiler" panose="020B0706040902060204" pitchFamily="34" charset="0"/>
              </a:rPr>
              <a:t>FALEMINDERIT PËR VËMENDJEN</a:t>
            </a:r>
          </a:p>
        </p:txBody>
      </p:sp>
    </p:spTree>
    <p:extLst>
      <p:ext uri="{BB962C8B-B14F-4D97-AF65-F5344CB8AC3E}">
        <p14:creationId xmlns:p14="http://schemas.microsoft.com/office/powerpoint/2010/main" val="31209284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2314</Words>
  <Application>Microsoft Office PowerPoint</Application>
  <PresentationFormat>Widescreen</PresentationFormat>
  <Paragraphs>187</Paragraphs>
  <Slides>30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Aptos Display</vt:lpstr>
      <vt:lpstr>Arial</vt:lpstr>
      <vt:lpstr>Cambria Math</vt:lpstr>
      <vt:lpstr>Haettenschweiler</vt:lpstr>
      <vt:lpstr>Swis721 BdOul BT</vt:lpstr>
      <vt:lpstr>Times New Roman</vt:lpstr>
      <vt:lpstr>Office Theme</vt:lpstr>
      <vt:lpstr>PUNIM SEMINARIK  Lënda: Projektimi i konstruksioneve të lehta  Titulli: “Dizajnimi dhe analiza e ngarkesave statike në konstruksionin kapriatë të shasisë së rimorkios të kontejnerëve” </vt:lpstr>
      <vt:lpstr>HYRJE</vt:lpstr>
      <vt:lpstr>Procesi i dizajnimit</vt:lpstr>
      <vt:lpstr>Procesi i dizajnimit</vt:lpstr>
      <vt:lpstr>Procesi i dizajnimit</vt:lpstr>
      <vt:lpstr>Procesi i dizajnimit</vt:lpstr>
      <vt:lpstr>Procesi i dizajnimit</vt:lpstr>
      <vt:lpstr>Procesi i dizajnimit</vt:lpstr>
      <vt:lpstr>Procesi i dizajnimit</vt:lpstr>
      <vt:lpstr>Procesi i dizajnimit</vt:lpstr>
      <vt:lpstr>Procesi i dizajnimit</vt:lpstr>
      <vt:lpstr>Procesi i dizajnimit</vt:lpstr>
      <vt:lpstr>Procesi i dizajnimit</vt:lpstr>
      <vt:lpstr>Procesi i dizajnimit</vt:lpstr>
      <vt:lpstr>Procesi i dizajnimit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Procesi i analizave inxhinierike</vt:lpstr>
      <vt:lpstr>FALEMINDERIT PËR VËMENDJEN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Flamur Sejdiu</dc:creator>
  <cp:lastModifiedBy>Flamur Sejdiu</cp:lastModifiedBy>
  <cp:revision>2</cp:revision>
  <dcterms:created xsi:type="dcterms:W3CDTF">2024-11-25T20:19:46Z</dcterms:created>
  <dcterms:modified xsi:type="dcterms:W3CDTF">2024-11-25T21:41:53Z</dcterms:modified>
</cp:coreProperties>
</file>